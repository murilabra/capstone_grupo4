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5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10424160" y="4846320"/>
            <a:ext cx="3108960" cy="3108960"/>
          </a:xfrm>
          <a:prstGeom prst="ellipse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68580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leaf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769010"/>
            <a:ext cx="473659" cy="4736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713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kern="0" spc="15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 · INGENIERÍA EN INFORMÁTICA</a:t>
            </a:r>
            <a:endParaRPr lang="es-CL" sz="13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528320" y="2212848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54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</a:t>
            </a:r>
            <a:endParaRPr lang="es-CL" sz="54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528320" y="3163824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móvil y web para descubrir, verificar y promover</a:t>
            </a:r>
            <a:endParaRPr lang="es-CL" sz="17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veganas en Chile</a:t>
            </a:r>
            <a:endParaRPr lang="es-CL" sz="17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599440" y="4828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kern="0" spc="15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s-CL" sz="14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599440" y="5094224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s-CL" sz="14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Muriel Labra Sepúlveda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21.228.247-2
</a:t>
            </a:r>
            <a:r>
              <a:rPr lang="es-CL" sz="14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Bastidas Ibarra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21.622.679-8</a:t>
            </a:r>
            <a:endParaRPr lang="es-CL" sz="14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Sede San Joaquín · Duoc UC  |  Fase 1 · Definición de Proyecto</a:t>
            </a:r>
            <a:endParaRPr lang="es-CL" sz="110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A96E63-622A-1565-E721-4581100FF355}"/>
              </a:ext>
            </a:extLst>
          </p:cNvPr>
          <p:cNvSpPr txBox="1"/>
          <p:nvPr/>
        </p:nvSpPr>
        <p:spPr>
          <a:xfrm>
            <a:off x="619760" y="4508063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b="1" kern="0" spc="15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s-CL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Zuñiga</a:t>
            </a:r>
            <a:endParaRPr lang="es-CL" sz="1300" b="1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responsabilidades</a:t>
            </a:r>
            <a:endParaRPr lang="es-CL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6355080" y="178308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7" name="Image 0" descr="icons/users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2186330"/>
            <a:ext cx="473659" cy="47365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Muriel Labra Sepúlveda</a:t>
            </a:r>
            <a:endParaRPr lang="es-CL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441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Inteligencia Artificial · Liderazgo</a:t>
            </a:r>
            <a:endParaRPr lang="es-CL" sz="14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017520"/>
            <a:ext cx="4526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general del equipo y coordinación del proyecto</a:t>
            </a:r>
            <a:endParaRPr lang="es-CL" sz="1600" noProof="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frontend (app móvil y web)</a:t>
            </a:r>
            <a:endParaRPr lang="es-CL" sz="1600" noProof="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e integración de modelos de IA para análisis de imágenes</a:t>
            </a:r>
            <a:endParaRPr lang="es-CL" sz="1600" noProof="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del proyecto</a:t>
            </a:r>
            <a:endParaRPr lang="es-CL" sz="1600" noProof="0" dirty="0"/>
          </a:p>
        </p:txBody>
      </p:sp>
      <p:sp>
        <p:nvSpPr>
          <p:cNvPr id="11" name="Shape 8"/>
          <p:cNvSpPr/>
          <p:nvPr/>
        </p:nvSpPr>
        <p:spPr>
          <a:xfrm>
            <a:off x="6675120" y="21031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2" name="Image 1" descr="icons/shield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30" y="218633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Bastidas Ibarra</a:t>
            </a:r>
            <a:endParaRPr lang="es-CL" noProof="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441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UX/UI · </a:t>
            </a:r>
            <a:r>
              <a:rPr lang="es-CL" sz="16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s-CL" sz="1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 · QA</a:t>
            </a:r>
            <a:endParaRPr lang="es-CL" sz="1400" noProof="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3017520"/>
            <a:ext cx="4526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del desarrollo backend y </a:t>
            </a:r>
            <a:r>
              <a:rPr lang="es-CL" sz="1600" noProof="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s-CL" sz="1600" noProof="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UX/UI e integración de geolocalización, mapas y código de barras</a:t>
            </a:r>
            <a:endParaRPr lang="es-CL" sz="1600" noProof="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Modelamiento y administración de la base de datos</a:t>
            </a:r>
            <a:endParaRPr lang="es-CL" sz="1600" noProof="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s-CL" sz="16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la calidad (QA) mediante pruebas integrales</a:t>
            </a:r>
            <a:endParaRPr lang="es-CL" sz="1600" noProof="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OPORTUNIDAD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la propuesta Paradero Vegano</a:t>
            </a:r>
            <a:endParaRPr lang="es-C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635508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EAF6EC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100" noProof="0" dirty="0">
                <a:solidFill>
                  <a:srgbClr val="B76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s-CL" sz="16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68880"/>
            <a:ext cx="45262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18% de los chilenos se declara vegano, vegetariano o flexitariano (Animal Libre &amp; </a:t>
            </a:r>
            <a:r>
              <a:rPr lang="es-CL" sz="1400" noProof="0" dirty="0" err="1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Criteria</a:t>
            </a:r>
            <a:r>
              <a:rPr lang="es-CL" sz="1400" noProof="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, 2022)</a:t>
            </a:r>
            <a:endParaRPr lang="es-CL" sz="1400" noProof="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47% consumió productos veganos el último año (Ipsos Chile &amp; Fundación </a:t>
            </a:r>
            <a:r>
              <a:rPr lang="es-CL" sz="1400" noProof="0" dirty="0" err="1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Veg</a:t>
            </a:r>
            <a:r>
              <a:rPr lang="es-CL" sz="1400" noProof="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, 2025)</a:t>
            </a:r>
            <a:endParaRPr lang="es-CL" sz="1400" noProof="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ODECU (2024) encontró discrepancias entre lo declarado y lo verificado en el etiquetado de sustitutos cárnicos</a:t>
            </a:r>
            <a:endParaRPr lang="es-CL" sz="1400" noProof="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Los directorios existentes dependen de información estática y rara vez actualizada</a:t>
            </a:r>
            <a:endParaRPr lang="es-CL" sz="14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1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s-CL" sz="16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68880"/>
            <a:ext cx="45262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colaborativa y actualizada aportada por usuarios y comercios</a:t>
            </a:r>
            <a:endParaRPr lang="es-CL" sz="1400" noProof="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que analiza fotografías de etiquetas y menús</a:t>
            </a:r>
            <a:endParaRPr lang="es-CL" sz="1400" noProof="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Geolocalización, mapas y escaneo de código de barras</a:t>
            </a:r>
            <a:endParaRPr lang="es-CL" sz="1400" noProof="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inteligencia de negocios para que los comercios conozcan la demanda</a:t>
            </a:r>
            <a:endParaRPr lang="es-CL" sz="14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EAF6EC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DEL PROYECTO</a:t>
            </a:r>
            <a:endParaRPr lang="es-CL" sz="1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s-CL" sz="40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3108960"/>
          </a:xfrm>
          <a:prstGeom prst="roundRect">
            <a:avLst>
              <a:gd name="adj" fmla="val 2647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7" name="Image 0" descr="icons/target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2563978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2423160"/>
            <a:ext cx="9052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s-CL" sz="20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MVP de una plataforma móvil y web que permita a usuarios y pequeños comercios de una zona geográfica acotada descubrir y verificar productos, platos y comercios con opciones veganas en Chile, mediante evidencia actualizada e inteligencia artificial.</a:t>
            </a:r>
            <a:endParaRPr lang="es-CL" sz="20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2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 trabajo para lograr el objetivo general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20848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databas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92" y="2150212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39494" y="2156613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datos</a:t>
            </a:r>
            <a:endParaRPr lang="es-CL" sz="16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749449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base de datos y la arquitectura que soportan usuarios, comercios y evidencia.</a:t>
            </a:r>
            <a:endParaRPr lang="es-CL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4373880" y="182880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629912" y="20848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brain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92" y="21502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98212" y="2156613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con IA</a:t>
            </a:r>
            <a:endParaRPr lang="es-CL" sz="1600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4629912" y="2778405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fotografías de etiquetas y menús para identificar ingredientes no veganos.</a:t>
            </a:r>
          </a:p>
        </p:txBody>
      </p:sp>
      <p:sp>
        <p:nvSpPr>
          <p:cNvPr id="14" name="Shape 10"/>
          <p:cNvSpPr/>
          <p:nvPr/>
        </p:nvSpPr>
        <p:spPr>
          <a:xfrm>
            <a:off x="8107680" y="182880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8363712" y="20848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mappin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092" y="2150212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39784" y="2156613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s-CL" sz="1600" noProof="0" dirty="0"/>
          </a:p>
        </p:txBody>
      </p:sp>
      <p:sp>
        <p:nvSpPr>
          <p:cNvPr id="18" name="Text 13"/>
          <p:cNvSpPr txBox="1"/>
          <p:nvPr/>
        </p:nvSpPr>
        <p:spPr>
          <a:xfrm>
            <a:off x="8363712" y="2769769"/>
            <a:ext cx="3157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Mapas, código de barras y notificaciones para encontrar opciones cercanas.</a:t>
            </a:r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5"/>
          <p:cNvSpPr/>
          <p:nvPr/>
        </p:nvSpPr>
        <p:spPr>
          <a:xfrm>
            <a:off x="896112" y="42793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3" descr="icons/chart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492" y="4344772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95984" y="4356253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negocios</a:t>
            </a:r>
            <a:endParaRPr lang="es-CL" sz="1600" noProof="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958080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s-CL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demanda, búsquedas y percepción para los comercios.</a:t>
            </a:r>
          </a:p>
        </p:txBody>
      </p:sp>
      <p:sp>
        <p:nvSpPr>
          <p:cNvPr id="24" name="Shape 18"/>
          <p:cNvSpPr/>
          <p:nvPr/>
        </p:nvSpPr>
        <p:spPr>
          <a:xfrm>
            <a:off x="4373880" y="402336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19"/>
          <p:cNvSpPr/>
          <p:nvPr/>
        </p:nvSpPr>
        <p:spPr>
          <a:xfrm>
            <a:off x="4629912" y="42793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6" name="Image 4" descr="icons/cart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292" y="4344772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73294" y="4351173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y recetas</a:t>
            </a:r>
            <a:endParaRPr lang="es-CL" sz="1600" noProof="0" dirty="0"/>
          </a:p>
        </p:txBody>
      </p:sp>
      <p:sp>
        <p:nvSpPr>
          <p:cNvPr id="28" name="Text 21"/>
          <p:cNvSpPr txBox="1"/>
          <p:nvPr/>
        </p:nvSpPr>
        <p:spPr>
          <a:xfrm>
            <a:off x="4629912" y="4952657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gratuita y catálogo de recetas veganas premium.</a:t>
            </a:r>
            <a:endParaRPr lang="es-CL" sz="1400" noProof="0" dirty="0"/>
          </a:p>
        </p:txBody>
      </p:sp>
      <p:sp>
        <p:nvSpPr>
          <p:cNvPr id="29" name="Shape 22"/>
          <p:cNvSpPr/>
          <p:nvPr/>
        </p:nvSpPr>
        <p:spPr>
          <a:xfrm>
            <a:off x="8107680" y="402336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3"/>
          <p:cNvSpPr/>
          <p:nvPr/>
        </p:nvSpPr>
        <p:spPr>
          <a:xfrm>
            <a:off x="8363712" y="42793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31" name="Image 5" descr="icons/card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092" y="4344772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75776" y="4342714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 y validación</a:t>
            </a:r>
            <a:endParaRPr lang="es-CL" sz="1600" noProof="0" dirty="0"/>
          </a:p>
        </p:txBody>
      </p:sp>
      <p:sp>
        <p:nvSpPr>
          <p:cNvPr id="33" name="Text 25"/>
          <p:cNvSpPr txBox="1"/>
          <p:nvPr/>
        </p:nvSpPr>
        <p:spPr>
          <a:xfrm>
            <a:off x="8363712" y="5000917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suscripción para comercios y validación con usuarios reales.</a:t>
            </a:r>
            <a:endParaRPr lang="es-CL" sz="1400" noProof="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35" name="Text 27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MVP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26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L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r>
              <a:rPr lang="es-CL" sz="2800" dirty="0"/>
              <a:t> </a:t>
            </a:r>
            <a:r>
              <a:rPr lang="es-CL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exclusiones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EAF6EC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6355080" y="178308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F1F2F4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1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s-CL" sz="1300" noProof="0" dirty="0"/>
          </a:p>
        </p:txBody>
      </p:sp>
      <p:pic>
        <p:nvPicPr>
          <p:cNvPr id="7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603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49631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y verificación de productos, platos y comercios con IA</a:t>
            </a:r>
            <a:endParaRPr lang="es-CL" sz="1400" noProof="0" dirty="0"/>
          </a:p>
        </p:txBody>
      </p:sp>
      <p:pic>
        <p:nvPicPr>
          <p:cNvPr id="9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821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1181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Geolocalización, mapas y escaneo de código de barras</a:t>
            </a:r>
            <a:endParaRPr lang="es-CL" sz="1400" noProof="0" dirty="0"/>
          </a:p>
        </p:txBody>
      </p:sp>
      <p:pic>
        <p:nvPicPr>
          <p:cNvPr id="11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0390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7398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módulo de inteligencia de negocios</a:t>
            </a:r>
            <a:endParaRPr lang="es-CL" sz="1400" noProof="0" dirty="0"/>
          </a:p>
        </p:txBody>
      </p:sp>
      <p:pic>
        <p:nvPicPr>
          <p:cNvPr id="13" name="Image 3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2569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3616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gratuita y recetas veganas premium</a:t>
            </a:r>
            <a:endParaRPr lang="es-CL" sz="1400" noProof="0" dirty="0"/>
          </a:p>
        </p:txBody>
      </p:sp>
      <p:pic>
        <p:nvPicPr>
          <p:cNvPr id="15" name="Image 4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047488"/>
            <a:ext cx="219456" cy="21945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25880" y="49834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premium para comercios y para usuarios</a:t>
            </a:r>
            <a:endParaRPr lang="es-CL" sz="1400" noProof="0" dirty="0"/>
          </a:p>
        </p:txBody>
      </p:sp>
      <p:sp>
        <p:nvSpPr>
          <p:cNvPr id="17" name="Text 10"/>
          <p:cNvSpPr txBox="1"/>
          <p:nvPr/>
        </p:nvSpPr>
        <p:spPr>
          <a:xfrm>
            <a:off x="667512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1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AHORA NO INCLUYE</a:t>
            </a:r>
            <a:endParaRPr lang="es-CL" sz="1600" noProof="0" dirty="0"/>
          </a:p>
        </p:txBody>
      </p:sp>
      <p:pic>
        <p:nvPicPr>
          <p:cNvPr id="18" name="Image 5" descr="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6032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40880" y="249631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o Delivery de productos</a:t>
            </a:r>
            <a:endParaRPr lang="es-CL" sz="1400" noProof="0" dirty="0"/>
          </a:p>
        </p:txBody>
      </p:sp>
      <p:pic>
        <p:nvPicPr>
          <p:cNvPr id="20" name="Image 6" descr="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182112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040880" y="311810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de productos dentro de la app</a:t>
            </a:r>
            <a:endParaRPr lang="es-CL" sz="1400" noProof="0" dirty="0"/>
          </a:p>
        </p:txBody>
      </p:sp>
      <p:pic>
        <p:nvPicPr>
          <p:cNvPr id="22" name="Image 7" descr="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803904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040880" y="37398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fuera de la zona piloto en Santiago</a:t>
            </a:r>
            <a:endParaRPr lang="es-CL" sz="1400" noProof="0" dirty="0"/>
          </a:p>
        </p:txBody>
      </p:sp>
      <p:pic>
        <p:nvPicPr>
          <p:cNvPr id="24" name="Image 8" descr="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25696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040880" y="43616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en otros idiomas</a:t>
            </a:r>
            <a:endParaRPr lang="es-CL" sz="1400" noProof="0" dirty="0"/>
          </a:p>
        </p:txBody>
      </p:sp>
      <p:sp>
        <p:nvSpPr>
          <p:cNvPr id="26" name="Text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27" name="Text 16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en tres etapas</a:t>
            </a:r>
            <a:endParaRPr lang="es-C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760" cy="2286000"/>
          </a:xfrm>
          <a:prstGeom prst="roundRect">
            <a:avLst>
              <a:gd name="adj" fmla="val 360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workflow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21744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43200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Definición</a:t>
            </a:r>
            <a:endParaRPr lang="es-CL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08960"/>
            <a:ext cx="286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objetivos, metodología y plan de trabajo.</a:t>
            </a:r>
            <a:endParaRPr lang="es-CL" sz="14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674872"/>
            <a:ext cx="286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</a:t>
            </a:r>
            <a:endParaRPr lang="es-CL" sz="1400" noProof="0" dirty="0"/>
          </a:p>
        </p:txBody>
      </p:sp>
      <p:sp>
        <p:nvSpPr>
          <p:cNvPr id="10" name="Shape 7"/>
          <p:cNvSpPr/>
          <p:nvPr/>
        </p:nvSpPr>
        <p:spPr>
          <a:xfrm>
            <a:off x="4373880" y="1828800"/>
            <a:ext cx="3413760" cy="2286000"/>
          </a:xfrm>
          <a:prstGeom prst="roundRect">
            <a:avLst>
              <a:gd name="adj" fmla="val 360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8"/>
          <p:cNvSpPr/>
          <p:nvPr/>
        </p:nvSpPr>
        <p:spPr>
          <a:xfrm>
            <a:off x="4648200" y="21031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2" name="Image 1" descr="icons/cod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523" y="217444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8200" y="2743200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</a:t>
            </a:r>
            <a:endParaRPr lang="es-CL" noProof="0" dirty="0"/>
          </a:p>
        </p:txBody>
      </p:sp>
      <p:sp>
        <p:nvSpPr>
          <p:cNvPr id="14" name="Text 10"/>
          <p:cNvSpPr txBox="1"/>
          <p:nvPr/>
        </p:nvSpPr>
        <p:spPr>
          <a:xfrm>
            <a:off x="4648200" y="3108960"/>
            <a:ext cx="286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iterativa de los módulos del MVP.</a:t>
            </a:r>
            <a:endParaRPr lang="es-CL" sz="1400" noProof="0" dirty="0"/>
          </a:p>
        </p:txBody>
      </p:sp>
      <p:sp>
        <p:nvSpPr>
          <p:cNvPr id="15" name="Text 11"/>
          <p:cNvSpPr txBox="1"/>
          <p:nvPr/>
        </p:nvSpPr>
        <p:spPr>
          <a:xfrm>
            <a:off x="4648200" y="3662172"/>
            <a:ext cx="286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semanas</a:t>
            </a:r>
            <a:endParaRPr lang="es-CL" sz="1400" noProof="0" dirty="0"/>
          </a:p>
        </p:txBody>
      </p:sp>
      <p:sp>
        <p:nvSpPr>
          <p:cNvPr id="16" name="Shape 12"/>
          <p:cNvSpPr/>
          <p:nvPr/>
        </p:nvSpPr>
        <p:spPr>
          <a:xfrm>
            <a:off x="8107680" y="1828800"/>
            <a:ext cx="3413760" cy="2286000"/>
          </a:xfrm>
          <a:prstGeom prst="roundRect">
            <a:avLst>
              <a:gd name="adj" fmla="val 360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3"/>
          <p:cNvSpPr/>
          <p:nvPr/>
        </p:nvSpPr>
        <p:spPr>
          <a:xfrm>
            <a:off x="8382000" y="21031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2" descr="icons/badg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323" y="217444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2000" y="2743200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Validación</a:t>
            </a:r>
            <a:endParaRPr lang="es-CL" noProof="0" dirty="0"/>
          </a:p>
        </p:txBody>
      </p:sp>
      <p:sp>
        <p:nvSpPr>
          <p:cNvPr id="20" name="Text 15"/>
          <p:cNvSpPr txBox="1"/>
          <p:nvPr/>
        </p:nvSpPr>
        <p:spPr>
          <a:xfrm>
            <a:off x="8382000" y="3108960"/>
            <a:ext cx="286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usuarios y comercios reales, cierre y documentación.</a:t>
            </a:r>
            <a:endParaRPr lang="es-CL" sz="1400" noProof="0" dirty="0"/>
          </a:p>
        </p:txBody>
      </p:sp>
      <p:sp>
        <p:nvSpPr>
          <p:cNvPr id="21" name="Text 16"/>
          <p:cNvSpPr txBox="1"/>
          <p:nvPr/>
        </p:nvSpPr>
        <p:spPr>
          <a:xfrm>
            <a:off x="8382000" y="3662172"/>
            <a:ext cx="286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semanas</a:t>
            </a:r>
            <a:endParaRPr lang="es-CL" sz="1400" noProof="0" dirty="0"/>
          </a:p>
        </p:txBody>
      </p:sp>
      <p:sp>
        <p:nvSpPr>
          <p:cNvPr id="22" name="Shape 17"/>
          <p:cNvSpPr/>
          <p:nvPr/>
        </p:nvSpPr>
        <p:spPr>
          <a:xfrm>
            <a:off x="640080" y="443484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18"/>
          <p:cNvSpPr txBox="1"/>
          <p:nvPr/>
        </p:nvSpPr>
        <p:spPr>
          <a:xfrm>
            <a:off x="960120" y="46634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s-CL" sz="14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</a:t>
            </a:r>
            <a:r>
              <a:rPr lang="es-CL" sz="1400" b="1" noProof="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r>
              <a:rPr lang="es-CL" sz="14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a dos semanas, con reuniones semanales de seguimiento del equipo para revisar avances, resolver bloqueos y replanificar tareas cuando es necesario.</a:t>
            </a:r>
            <a:endParaRPr lang="es-CL" sz="1400" b="1" noProof="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· 18 Semanas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41248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(S1-S4)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1426464"/>
            <a:ext cx="128016" cy="128016"/>
          </a:xfrm>
          <a:prstGeom prst="ellipse">
            <a:avLst/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2807208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(S5-S15)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426464"/>
            <a:ext cx="128016" cy="128016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4773168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(S16-S18)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1828800"/>
            <a:ext cx="1459992" cy="256032"/>
          </a:xfrm>
          <a:prstGeom prst="rect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2788920" y="1828800"/>
            <a:ext cx="1459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327558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376224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248912" y="1828800"/>
            <a:ext cx="1946656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4248912" y="1828800"/>
            <a:ext cx="194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248912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4735576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522224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650" dirty="0"/>
          </a:p>
        </p:txBody>
      </p:sp>
      <p:sp>
        <p:nvSpPr>
          <p:cNvPr id="20" name="Text 18"/>
          <p:cNvSpPr txBox="1"/>
          <p:nvPr/>
        </p:nvSpPr>
        <p:spPr>
          <a:xfrm>
            <a:off x="570890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195568" y="1828800"/>
            <a:ext cx="2433320" cy="256032"/>
          </a:xfrm>
          <a:prstGeom prst="rect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195568" y="1828800"/>
            <a:ext cx="243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9556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6682232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650" dirty="0"/>
          </a:p>
        </p:txBody>
      </p:sp>
      <p:sp>
        <p:nvSpPr>
          <p:cNvPr id="25" name="Text 23"/>
          <p:cNvSpPr txBox="1"/>
          <p:nvPr/>
        </p:nvSpPr>
        <p:spPr>
          <a:xfrm>
            <a:off x="7168896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765556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814222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628888" y="1828800"/>
            <a:ext cx="1946656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 txBox="1"/>
          <p:nvPr/>
        </p:nvSpPr>
        <p:spPr>
          <a:xfrm>
            <a:off x="8628888" y="1828800"/>
            <a:ext cx="194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62888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9115552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9602216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10088880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0575544" y="1828800"/>
            <a:ext cx="973328" cy="256032"/>
          </a:xfrm>
          <a:prstGeom prst="rect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10575544" y="1828800"/>
            <a:ext cx="973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0575544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11062208" y="2084832"/>
            <a:ext cx="486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40080" y="2286000"/>
            <a:ext cx="1090879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640080" y="2340864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713232" y="2340864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fundamentación</a:t>
            </a:r>
            <a:endParaRPr lang="en-US" sz="1000" b="1" dirty="0"/>
          </a:p>
        </p:txBody>
      </p:sp>
      <p:sp>
        <p:nvSpPr>
          <p:cNvPr id="41" name="Shape 39"/>
          <p:cNvSpPr/>
          <p:nvPr/>
        </p:nvSpPr>
        <p:spPr>
          <a:xfrm>
            <a:off x="2788920" y="2400812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2788920" y="2400812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 txBox="1"/>
          <p:nvPr/>
        </p:nvSpPr>
        <p:spPr>
          <a:xfrm>
            <a:off x="713232" y="2613355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arquitectura</a:t>
            </a:r>
            <a:endParaRPr lang="en-US" sz="1000" b="1" dirty="0"/>
          </a:p>
        </p:txBody>
      </p:sp>
      <p:sp>
        <p:nvSpPr>
          <p:cNvPr id="44" name="Shape 42"/>
          <p:cNvSpPr/>
          <p:nvPr/>
        </p:nvSpPr>
        <p:spPr>
          <a:xfrm>
            <a:off x="2788920" y="2673303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4735576" y="2673303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640080" y="2885846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 txBox="1"/>
          <p:nvPr/>
        </p:nvSpPr>
        <p:spPr>
          <a:xfrm>
            <a:off x="713232" y="2885846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UX/UI y prototipo</a:t>
            </a:r>
            <a:endParaRPr lang="en-US" sz="1000" b="1" dirty="0"/>
          </a:p>
        </p:txBody>
      </p:sp>
      <p:sp>
        <p:nvSpPr>
          <p:cNvPr id="48" name="Shape 46"/>
          <p:cNvSpPr/>
          <p:nvPr/>
        </p:nvSpPr>
        <p:spPr>
          <a:xfrm>
            <a:off x="2788920" y="2945794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9" name="Shape 47"/>
          <p:cNvSpPr/>
          <p:nvPr/>
        </p:nvSpPr>
        <p:spPr>
          <a:xfrm>
            <a:off x="4735576" y="2945794"/>
            <a:ext cx="1459992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 txBox="1"/>
          <p:nvPr/>
        </p:nvSpPr>
        <p:spPr>
          <a:xfrm>
            <a:off x="713232" y="3158338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base de datos</a:t>
            </a:r>
            <a:endParaRPr lang="en-US" sz="1000" b="1" dirty="0"/>
          </a:p>
        </p:txBody>
      </p:sp>
      <p:sp>
        <p:nvSpPr>
          <p:cNvPr id="51" name="Shape 49"/>
          <p:cNvSpPr/>
          <p:nvPr/>
        </p:nvSpPr>
        <p:spPr>
          <a:xfrm>
            <a:off x="2788920" y="3218286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2" name="Shape 50"/>
          <p:cNvSpPr/>
          <p:nvPr/>
        </p:nvSpPr>
        <p:spPr>
          <a:xfrm>
            <a:off x="5222240" y="3218286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3" name="Shape 51"/>
          <p:cNvSpPr/>
          <p:nvPr/>
        </p:nvSpPr>
        <p:spPr>
          <a:xfrm>
            <a:off x="640080" y="3430829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 txBox="1"/>
          <p:nvPr/>
        </p:nvSpPr>
        <p:spPr>
          <a:xfrm>
            <a:off x="713232" y="3430829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APIs</a:t>
            </a:r>
            <a:endParaRPr lang="en-US" sz="1000" b="1" dirty="0"/>
          </a:p>
        </p:txBody>
      </p:sp>
      <p:sp>
        <p:nvSpPr>
          <p:cNvPr id="55" name="Shape 53"/>
          <p:cNvSpPr/>
          <p:nvPr/>
        </p:nvSpPr>
        <p:spPr>
          <a:xfrm>
            <a:off x="2788920" y="3490777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6" name="Shape 54"/>
          <p:cNvSpPr/>
          <p:nvPr/>
        </p:nvSpPr>
        <p:spPr>
          <a:xfrm>
            <a:off x="5708904" y="3490777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 txBox="1"/>
          <p:nvPr/>
        </p:nvSpPr>
        <p:spPr>
          <a:xfrm>
            <a:off x="713232" y="3703320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y app móvil</a:t>
            </a:r>
            <a:endParaRPr lang="en-US" sz="1000" b="1" dirty="0"/>
          </a:p>
        </p:txBody>
      </p:sp>
      <p:sp>
        <p:nvSpPr>
          <p:cNvPr id="58" name="Shape 56"/>
          <p:cNvSpPr/>
          <p:nvPr/>
        </p:nvSpPr>
        <p:spPr>
          <a:xfrm>
            <a:off x="2788920" y="3763268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9" name="Shape 57"/>
          <p:cNvSpPr/>
          <p:nvPr/>
        </p:nvSpPr>
        <p:spPr>
          <a:xfrm>
            <a:off x="5708904" y="3763268"/>
            <a:ext cx="2433320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0" name="Shape 58"/>
          <p:cNvSpPr/>
          <p:nvPr/>
        </p:nvSpPr>
        <p:spPr>
          <a:xfrm>
            <a:off x="640080" y="3975811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 txBox="1"/>
          <p:nvPr/>
        </p:nvSpPr>
        <p:spPr>
          <a:xfrm>
            <a:off x="713232" y="3975811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IA</a:t>
            </a:r>
            <a:endParaRPr lang="en-US" sz="1000" b="1" dirty="0"/>
          </a:p>
        </p:txBody>
      </p:sp>
      <p:sp>
        <p:nvSpPr>
          <p:cNvPr id="62" name="Shape 60"/>
          <p:cNvSpPr/>
          <p:nvPr/>
        </p:nvSpPr>
        <p:spPr>
          <a:xfrm>
            <a:off x="2788920" y="4035759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3" name="Shape 61"/>
          <p:cNvSpPr/>
          <p:nvPr/>
        </p:nvSpPr>
        <p:spPr>
          <a:xfrm>
            <a:off x="6682232" y="4035759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4" name="Text 62"/>
          <p:cNvSpPr txBox="1"/>
          <p:nvPr/>
        </p:nvSpPr>
        <p:spPr>
          <a:xfrm>
            <a:off x="713232" y="4248302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y mapas</a:t>
            </a:r>
            <a:endParaRPr lang="en-US" sz="1000" b="1" dirty="0"/>
          </a:p>
        </p:txBody>
      </p:sp>
      <p:sp>
        <p:nvSpPr>
          <p:cNvPr id="65" name="Shape 63"/>
          <p:cNvSpPr/>
          <p:nvPr/>
        </p:nvSpPr>
        <p:spPr>
          <a:xfrm>
            <a:off x="2788920" y="4308250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6" name="Shape 64"/>
          <p:cNvSpPr/>
          <p:nvPr/>
        </p:nvSpPr>
        <p:spPr>
          <a:xfrm>
            <a:off x="7168896" y="4308250"/>
            <a:ext cx="1459992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7" name="Shape 65"/>
          <p:cNvSpPr/>
          <p:nvPr/>
        </p:nvSpPr>
        <p:spPr>
          <a:xfrm>
            <a:off x="640080" y="4520794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8" name="Text 66"/>
          <p:cNvSpPr txBox="1"/>
          <p:nvPr/>
        </p:nvSpPr>
        <p:spPr>
          <a:xfrm>
            <a:off x="713232" y="4520794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BI</a:t>
            </a:r>
            <a:endParaRPr lang="en-US" sz="1000" b="1" dirty="0"/>
          </a:p>
        </p:txBody>
      </p:sp>
      <p:sp>
        <p:nvSpPr>
          <p:cNvPr id="69" name="Shape 67"/>
          <p:cNvSpPr/>
          <p:nvPr/>
        </p:nvSpPr>
        <p:spPr>
          <a:xfrm>
            <a:off x="2788920" y="4580742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0" name="Shape 68"/>
          <p:cNvSpPr/>
          <p:nvPr/>
        </p:nvSpPr>
        <p:spPr>
          <a:xfrm>
            <a:off x="7655560" y="4580742"/>
            <a:ext cx="1946656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1" name="Text 69"/>
          <p:cNvSpPr txBox="1"/>
          <p:nvPr/>
        </p:nvSpPr>
        <p:spPr>
          <a:xfrm>
            <a:off x="713232" y="4793285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comercios</a:t>
            </a:r>
            <a:endParaRPr lang="en-US" sz="1000" b="1" dirty="0"/>
          </a:p>
        </p:txBody>
      </p:sp>
      <p:sp>
        <p:nvSpPr>
          <p:cNvPr id="72" name="Shape 70"/>
          <p:cNvSpPr/>
          <p:nvPr/>
        </p:nvSpPr>
        <p:spPr>
          <a:xfrm>
            <a:off x="2788920" y="4853233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3" name="Shape 71"/>
          <p:cNvSpPr/>
          <p:nvPr/>
        </p:nvSpPr>
        <p:spPr>
          <a:xfrm>
            <a:off x="8628888" y="4853233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4" name="Shape 72"/>
          <p:cNvSpPr/>
          <p:nvPr/>
        </p:nvSpPr>
        <p:spPr>
          <a:xfrm>
            <a:off x="640080" y="5065776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 txBox="1"/>
          <p:nvPr/>
        </p:nvSpPr>
        <p:spPr>
          <a:xfrm>
            <a:off x="713232" y="5065776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y recetas</a:t>
            </a:r>
            <a:endParaRPr lang="en-US" sz="1000" b="1" dirty="0"/>
          </a:p>
        </p:txBody>
      </p:sp>
      <p:sp>
        <p:nvSpPr>
          <p:cNvPr id="76" name="Shape 74"/>
          <p:cNvSpPr/>
          <p:nvPr/>
        </p:nvSpPr>
        <p:spPr>
          <a:xfrm>
            <a:off x="2788920" y="5125724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7" name="Shape 75"/>
          <p:cNvSpPr/>
          <p:nvPr/>
        </p:nvSpPr>
        <p:spPr>
          <a:xfrm>
            <a:off x="8628888" y="5125724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8" name="Text 76"/>
          <p:cNvSpPr txBox="1"/>
          <p:nvPr/>
        </p:nvSpPr>
        <p:spPr>
          <a:xfrm>
            <a:off x="713232" y="5338267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</a:t>
            </a:r>
            <a:endParaRPr lang="en-US" sz="1000" b="1" dirty="0"/>
          </a:p>
        </p:txBody>
      </p:sp>
      <p:sp>
        <p:nvSpPr>
          <p:cNvPr id="79" name="Shape 77"/>
          <p:cNvSpPr/>
          <p:nvPr/>
        </p:nvSpPr>
        <p:spPr>
          <a:xfrm>
            <a:off x="2788920" y="5398215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0" name="Shape 78"/>
          <p:cNvSpPr/>
          <p:nvPr/>
        </p:nvSpPr>
        <p:spPr>
          <a:xfrm>
            <a:off x="9115552" y="5398215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4C9A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1" name="Shape 79"/>
          <p:cNvSpPr/>
          <p:nvPr/>
        </p:nvSpPr>
        <p:spPr>
          <a:xfrm>
            <a:off x="640080" y="5610758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2" name="Text 80"/>
          <p:cNvSpPr txBox="1"/>
          <p:nvPr/>
        </p:nvSpPr>
        <p:spPr>
          <a:xfrm>
            <a:off x="713232" y="5610758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usuarios</a:t>
            </a:r>
            <a:endParaRPr lang="en-US" sz="1000" b="1" dirty="0"/>
          </a:p>
        </p:txBody>
      </p:sp>
      <p:sp>
        <p:nvSpPr>
          <p:cNvPr id="83" name="Shape 81"/>
          <p:cNvSpPr/>
          <p:nvPr/>
        </p:nvSpPr>
        <p:spPr>
          <a:xfrm>
            <a:off x="2788920" y="5670706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4" name="Shape 82"/>
          <p:cNvSpPr/>
          <p:nvPr/>
        </p:nvSpPr>
        <p:spPr>
          <a:xfrm>
            <a:off x="10088880" y="5670706"/>
            <a:ext cx="973328" cy="152595"/>
          </a:xfrm>
          <a:prstGeom prst="roundRect">
            <a:avLst>
              <a:gd name="adj" fmla="val 1797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5" name="Text 83"/>
          <p:cNvSpPr txBox="1"/>
          <p:nvPr/>
        </p:nvSpPr>
        <p:spPr>
          <a:xfrm>
            <a:off x="713232" y="5883250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documentación</a:t>
            </a:r>
            <a:endParaRPr lang="en-US" sz="1000" b="1" dirty="0"/>
          </a:p>
        </p:txBody>
      </p:sp>
      <p:sp>
        <p:nvSpPr>
          <p:cNvPr id="86" name="Shape 84"/>
          <p:cNvSpPr/>
          <p:nvPr/>
        </p:nvSpPr>
        <p:spPr>
          <a:xfrm>
            <a:off x="2788920" y="5943198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7" name="Shape 85"/>
          <p:cNvSpPr/>
          <p:nvPr/>
        </p:nvSpPr>
        <p:spPr>
          <a:xfrm>
            <a:off x="10575544" y="5943198"/>
            <a:ext cx="486664" cy="152595"/>
          </a:xfrm>
          <a:prstGeom prst="roundRect">
            <a:avLst>
              <a:gd name="adj" fmla="val 1797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8" name="Shape 86"/>
          <p:cNvSpPr/>
          <p:nvPr/>
        </p:nvSpPr>
        <p:spPr>
          <a:xfrm>
            <a:off x="640080" y="6155741"/>
            <a:ext cx="10908792" cy="272491"/>
          </a:xfrm>
          <a:prstGeom prst="rect">
            <a:avLst/>
          </a:prstGeom>
          <a:solidFill>
            <a:srgbClr val="FAF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9" name="Text 87"/>
          <p:cNvSpPr txBox="1"/>
          <p:nvPr/>
        </p:nvSpPr>
        <p:spPr>
          <a:xfrm>
            <a:off x="713232" y="6155741"/>
            <a:ext cx="2002536" cy="272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</a:t>
            </a:r>
            <a:endParaRPr lang="en-US" sz="1000" b="1" dirty="0"/>
          </a:p>
        </p:txBody>
      </p:sp>
      <p:sp>
        <p:nvSpPr>
          <p:cNvPr id="90" name="Shape 88"/>
          <p:cNvSpPr/>
          <p:nvPr/>
        </p:nvSpPr>
        <p:spPr>
          <a:xfrm>
            <a:off x="2788920" y="6215689"/>
            <a:ext cx="8759952" cy="152595"/>
          </a:xfrm>
          <a:prstGeom prst="roundRect">
            <a:avLst>
              <a:gd name="adj" fmla="val 17977"/>
            </a:avLst>
          </a:prstGeom>
          <a:solidFill>
            <a:srgbClr val="EEF1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1" name="Shape 89"/>
          <p:cNvSpPr/>
          <p:nvPr/>
        </p:nvSpPr>
        <p:spPr>
          <a:xfrm>
            <a:off x="11062208" y="6215689"/>
            <a:ext cx="486664" cy="152595"/>
          </a:xfrm>
          <a:prstGeom prst="roundRect">
            <a:avLst>
              <a:gd name="adj" fmla="val 17977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2" name="Text 9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Y HERRAMIENTAS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s-CL" sz="2800" b="1" noProof="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esarrollo</a:t>
            </a:r>
            <a:r>
              <a:rPr lang="es-CL" sz="28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MVP</a:t>
            </a:r>
            <a:endParaRPr lang="es-C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20848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pho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92" y="2150212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95984" y="2156613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móvil y web</a:t>
            </a:r>
            <a:endParaRPr lang="es-CL" sz="16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745232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(web) y React Native (móvil), con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diseño UX/UI.</a:t>
            </a:r>
            <a:endParaRPr lang="es-CL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4373880" y="182880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629912" y="20848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cod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92" y="21502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32832" y="2150212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</a:t>
            </a:r>
            <a:r>
              <a:rPr lang="es-CL" sz="1600" b="1" noProof="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s-CL" sz="1600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4629912" y="2770785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y Express para la lógica de negocio y los servicios REST.</a:t>
            </a:r>
            <a:endParaRPr lang="es-CL" sz="1400" noProof="0" dirty="0"/>
          </a:p>
        </p:txBody>
      </p:sp>
      <p:sp>
        <p:nvSpPr>
          <p:cNvPr id="14" name="Shape 10"/>
          <p:cNvSpPr/>
          <p:nvPr/>
        </p:nvSpPr>
        <p:spPr>
          <a:xfrm>
            <a:off x="8107680" y="182880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8363712" y="20848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databas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092" y="2150212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75776" y="2156613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s-CL" sz="1600" noProof="0" dirty="0"/>
          </a:p>
        </p:txBody>
      </p:sp>
      <p:sp>
        <p:nvSpPr>
          <p:cNvPr id="18" name="Text 13"/>
          <p:cNvSpPr txBox="1"/>
          <p:nvPr/>
        </p:nvSpPr>
        <p:spPr>
          <a:xfrm>
            <a:off x="8282432" y="2770632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con hosting en la nube de bajo costo.</a:t>
            </a:r>
            <a:endParaRPr lang="es-CL" sz="1400" noProof="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5"/>
          <p:cNvSpPr/>
          <p:nvPr/>
        </p:nvSpPr>
        <p:spPr>
          <a:xfrm>
            <a:off x="896112" y="42793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3" descr="icons/brain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492" y="4344772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06805" y="4359656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s-CL" sz="1600" noProof="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5053229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preentrenados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visión computacional para etiquetas y menús.</a:t>
            </a:r>
            <a:endParaRPr lang="es-CL" sz="1400" noProof="0" dirty="0"/>
          </a:p>
        </p:txBody>
      </p:sp>
      <p:sp>
        <p:nvSpPr>
          <p:cNvPr id="24" name="Shape 18"/>
          <p:cNvSpPr/>
          <p:nvPr/>
        </p:nvSpPr>
        <p:spPr>
          <a:xfrm>
            <a:off x="4373880" y="402336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19"/>
          <p:cNvSpPr/>
          <p:nvPr/>
        </p:nvSpPr>
        <p:spPr>
          <a:xfrm>
            <a:off x="4629912" y="42793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6" name="Image 4" descr="icons/mappin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292" y="4344772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32832" y="4355898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y geolocalización</a:t>
            </a:r>
            <a:endParaRPr lang="es-CL" sz="1600" noProof="0" dirty="0"/>
          </a:p>
        </p:txBody>
      </p:sp>
      <p:sp>
        <p:nvSpPr>
          <p:cNvPr id="28" name="Text 21"/>
          <p:cNvSpPr txBox="1"/>
          <p:nvPr/>
        </p:nvSpPr>
        <p:spPr>
          <a:xfrm>
            <a:off x="4629912" y="4984446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y lectura de código de barras.</a:t>
            </a:r>
            <a:endParaRPr lang="es-CL" sz="1400" noProof="0" dirty="0"/>
          </a:p>
        </p:txBody>
      </p:sp>
      <p:sp>
        <p:nvSpPr>
          <p:cNvPr id="29" name="Shape 22"/>
          <p:cNvSpPr/>
          <p:nvPr/>
        </p:nvSpPr>
        <p:spPr>
          <a:xfrm>
            <a:off x="8107680" y="4023360"/>
            <a:ext cx="3413760" cy="1874520"/>
          </a:xfrm>
          <a:prstGeom prst="roundRect">
            <a:avLst>
              <a:gd name="adj" fmla="val 439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3"/>
          <p:cNvSpPr/>
          <p:nvPr/>
        </p:nvSpPr>
        <p:spPr>
          <a:xfrm>
            <a:off x="8363712" y="427939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31" name="Image 5" descr="icons/cloud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092" y="4344772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39784" y="4364736"/>
            <a:ext cx="290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hosting</a:t>
            </a:r>
            <a:endParaRPr lang="es-CL" sz="1600" noProof="0" dirty="0"/>
          </a:p>
        </p:txBody>
      </p:sp>
      <p:sp>
        <p:nvSpPr>
          <p:cNvPr id="33" name="Text 25"/>
          <p:cNvSpPr txBox="1"/>
          <p:nvPr/>
        </p:nvSpPr>
        <p:spPr>
          <a:xfrm>
            <a:off x="8309864" y="4984446"/>
            <a:ext cx="2901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servicios cloud de bajo costo.</a:t>
            </a:r>
            <a:endParaRPr lang="es-CL" sz="1400" noProof="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35" name="Text 27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para usuarios, premium para usuarios y comercios</a:t>
            </a:r>
            <a:endParaRPr lang="es-C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13760" cy="3291840"/>
          </a:xfrm>
          <a:prstGeom prst="roundRect">
            <a:avLst>
              <a:gd name="adj" fmla="val 250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sprout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23234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017520"/>
            <a:ext cx="286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s-CL" sz="20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286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y verificar productos, platos y comercios veganos, más la lista de compras.</a:t>
            </a:r>
            <a:endParaRPr lang="es-CL" sz="1600" noProof="0" dirty="0"/>
          </a:p>
        </p:txBody>
      </p:sp>
      <p:sp>
        <p:nvSpPr>
          <p:cNvPr id="9" name="Shape 6"/>
          <p:cNvSpPr/>
          <p:nvPr/>
        </p:nvSpPr>
        <p:spPr>
          <a:xfrm>
            <a:off x="4373880" y="1920240"/>
            <a:ext cx="3413760" cy="3291840"/>
          </a:xfrm>
          <a:prstGeom prst="roundRect">
            <a:avLst>
              <a:gd name="adj" fmla="val 2500"/>
            </a:avLst>
          </a:prstGeom>
          <a:solidFill>
            <a:srgbClr val="EAF6EC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648200" y="22402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utensils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410" y="232349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8200" y="3017520"/>
            <a:ext cx="286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usuarios</a:t>
            </a:r>
            <a:endParaRPr lang="es-CL" sz="2000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4648200" y="3474720"/>
            <a:ext cx="286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catálogo de recetas veganas personalizadas según los productos verificados.</a:t>
            </a:r>
            <a:endParaRPr lang="es-CL" sz="1600" noProof="0" dirty="0"/>
          </a:p>
        </p:txBody>
      </p:sp>
      <p:sp>
        <p:nvSpPr>
          <p:cNvPr id="14" name="Shape 10"/>
          <p:cNvSpPr/>
          <p:nvPr/>
        </p:nvSpPr>
        <p:spPr>
          <a:xfrm>
            <a:off x="8107680" y="1920240"/>
            <a:ext cx="3413760" cy="3291840"/>
          </a:xfrm>
          <a:prstGeom prst="roundRect">
            <a:avLst>
              <a:gd name="adj" fmla="val 2500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8382000" y="22402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chart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210" y="232349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2000" y="3017520"/>
            <a:ext cx="286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0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comercios</a:t>
            </a:r>
            <a:endParaRPr lang="es-CL" sz="2000" noProof="0" dirty="0"/>
          </a:p>
        </p:txBody>
      </p:sp>
      <p:sp>
        <p:nvSpPr>
          <p:cNvPr id="18" name="Text 13"/>
          <p:cNvSpPr txBox="1"/>
          <p:nvPr/>
        </p:nvSpPr>
        <p:spPr>
          <a:xfrm>
            <a:off x="8382000" y="3474720"/>
            <a:ext cx="286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s-CL" sz="16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demanda, búsquedas y percepción de clientes, más mayor visibilidad.</a:t>
            </a:r>
            <a:endParaRPr lang="es-CL" sz="1600" noProof="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20" name="Text 15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55320" y="9418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2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definición al prototipo validado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026920" y="2423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workflow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30" y="250637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46120"/>
            <a:ext cx="295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navegable</a:t>
            </a:r>
            <a:endParaRPr lang="es-CL" sz="16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277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pantallas y flujo de la app en </a:t>
            </a:r>
            <a:r>
              <a:rPr lang="es-CL" sz="1400" noProof="0" dirty="0" err="1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durante la Fase 2.</a:t>
            </a:r>
            <a:endParaRPr lang="es-CL" sz="14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4072128" y="29260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L" sz="2200" noProof="0" dirty="0"/>
          </a:p>
        </p:txBody>
      </p:sp>
      <p:sp>
        <p:nvSpPr>
          <p:cNvPr id="10" name="Shape 7"/>
          <p:cNvSpPr/>
          <p:nvPr/>
        </p:nvSpPr>
        <p:spPr>
          <a:xfrm>
            <a:off x="4373880" y="210312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8"/>
          <p:cNvSpPr/>
          <p:nvPr/>
        </p:nvSpPr>
        <p:spPr>
          <a:xfrm>
            <a:off x="5760720" y="2423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2" name="Image 1" descr="icons/cod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930" y="250637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02480" y="3246120"/>
            <a:ext cx="295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MVP</a:t>
            </a:r>
            <a:endParaRPr lang="es-CL" sz="1600" noProof="0" dirty="0"/>
          </a:p>
        </p:txBody>
      </p:sp>
      <p:sp>
        <p:nvSpPr>
          <p:cNvPr id="14" name="Text 10"/>
          <p:cNvSpPr txBox="1"/>
          <p:nvPr/>
        </p:nvSpPr>
        <p:spPr>
          <a:xfrm>
            <a:off x="4693920" y="3611880"/>
            <a:ext cx="277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iterativa de los módulos: IA, geolocalización, BI y suscripciones.</a:t>
            </a:r>
            <a:endParaRPr lang="es-CL" sz="1400" noProof="0" dirty="0"/>
          </a:p>
        </p:txBody>
      </p:sp>
      <p:sp>
        <p:nvSpPr>
          <p:cNvPr id="15" name="Text 11"/>
          <p:cNvSpPr txBox="1"/>
          <p:nvPr/>
        </p:nvSpPr>
        <p:spPr>
          <a:xfrm>
            <a:off x="7805928" y="29260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CL" sz="2200" noProof="0" dirty="0"/>
          </a:p>
        </p:txBody>
      </p:sp>
      <p:sp>
        <p:nvSpPr>
          <p:cNvPr id="16" name="Shape 12"/>
          <p:cNvSpPr/>
          <p:nvPr/>
        </p:nvSpPr>
        <p:spPr>
          <a:xfrm>
            <a:off x="8107680" y="2103120"/>
            <a:ext cx="3413760" cy="2377440"/>
          </a:xfrm>
          <a:prstGeom prst="roundRect">
            <a:avLst>
              <a:gd name="adj" fmla="val 3462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3"/>
          <p:cNvSpPr/>
          <p:nvPr/>
        </p:nvSpPr>
        <p:spPr>
          <a:xfrm>
            <a:off x="9494520" y="2423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2" descr="icons/mappin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730" y="250637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36280" y="3246120"/>
            <a:ext cx="295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zona piloto</a:t>
            </a:r>
            <a:endParaRPr lang="es-CL" sz="1600" noProof="0" dirty="0"/>
          </a:p>
        </p:txBody>
      </p:sp>
      <p:sp>
        <p:nvSpPr>
          <p:cNvPr id="20" name="Text 15"/>
          <p:cNvSpPr txBox="1"/>
          <p:nvPr/>
        </p:nvSpPr>
        <p:spPr>
          <a:xfrm>
            <a:off x="8427720" y="3611880"/>
            <a:ext cx="277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con usuarios y pequeños comercios reales de una zona acotada de Santiago.</a:t>
            </a:r>
            <a:endParaRPr lang="es-CL" sz="1400" noProof="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6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s-CL" sz="1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24840" y="848563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L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r>
              <a:rPr lang="es-CL" sz="2800" dirty="0"/>
              <a:t> </a:t>
            </a:r>
            <a:r>
              <a:rPr lang="es-CL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s-CL" sz="2800" dirty="0"/>
              <a:t> </a:t>
            </a:r>
            <a:r>
              <a:rPr lang="es-CL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2926080"/>
          </a:xfrm>
          <a:prstGeom prst="roundRect">
            <a:avLst>
              <a:gd name="adj" fmla="val 3273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1623060" y="23317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mappin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383" y="24030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geográfica</a:t>
            </a:r>
            <a:endParaRPr lang="es-CL" sz="16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la plataforma a otras comunas y regiones de Chile.</a:t>
            </a:r>
            <a:endParaRPr lang="es-CL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3429000" y="2011680"/>
            <a:ext cx="2514600" cy="2926080"/>
          </a:xfrm>
          <a:prstGeom prst="roundRect">
            <a:avLst>
              <a:gd name="adj" fmla="val 3273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411980" y="23317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cart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303" y="240304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</a:t>
            </a:r>
            <a:r>
              <a:rPr lang="es-CL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s-CL" sz="1600" b="1" noProof="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elivery</a:t>
            </a:r>
            <a:endParaRPr lang="es-CL" sz="1600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servicios de despacho para compras dentro de la app.</a:t>
            </a:r>
            <a:endParaRPr lang="es-CL" sz="1400" noProof="0" dirty="0"/>
          </a:p>
        </p:txBody>
      </p:sp>
      <p:sp>
        <p:nvSpPr>
          <p:cNvPr id="14" name="Shape 10"/>
          <p:cNvSpPr/>
          <p:nvPr/>
        </p:nvSpPr>
        <p:spPr>
          <a:xfrm>
            <a:off x="6217920" y="2011680"/>
            <a:ext cx="2514600" cy="2926080"/>
          </a:xfrm>
          <a:prstGeom prst="roundRect">
            <a:avLst>
              <a:gd name="adj" fmla="val 3273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7200900" y="23317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users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223" y="240304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y reseñas</a:t>
            </a:r>
            <a:endParaRPr lang="es-CL" sz="1600" noProof="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6118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de usuarios y un espacio de comunidad entre consumidores veganos.</a:t>
            </a:r>
            <a:endParaRPr lang="es-CL" sz="1400" noProof="0" dirty="0"/>
          </a:p>
        </p:txBody>
      </p:sp>
      <p:sp>
        <p:nvSpPr>
          <p:cNvPr id="19" name="Shape 14"/>
          <p:cNvSpPr/>
          <p:nvPr/>
        </p:nvSpPr>
        <p:spPr>
          <a:xfrm>
            <a:off x="9006840" y="2011680"/>
            <a:ext cx="2514600" cy="2926080"/>
          </a:xfrm>
          <a:prstGeom prst="roundRect">
            <a:avLst>
              <a:gd name="adj" fmla="val 3273"/>
            </a:avLst>
          </a:prstGeom>
          <a:solidFill>
            <a:srgbClr val="F5FBF6"/>
          </a:solidFill>
          <a:ln/>
          <a:effectLst>
            <a:outerShdw blurRad="101600" dist="25400" dir="5400000" algn="bl" rotWithShape="0">
              <a:srgbClr val="1B5E2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5"/>
          <p:cNvSpPr/>
          <p:nvPr/>
        </p:nvSpPr>
        <p:spPr>
          <a:xfrm>
            <a:off x="9989820" y="23317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3" descr="icons/badg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143" y="240304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Comercios verificados</a:t>
            </a:r>
            <a:endParaRPr lang="es-CL" sz="1600" noProof="0" dirty="0"/>
          </a:p>
        </p:txBody>
      </p:sp>
      <p:sp>
        <p:nvSpPr>
          <p:cNvPr id="23" name="Text 17"/>
          <p:cNvSpPr txBox="1"/>
          <p:nvPr/>
        </p:nvSpPr>
        <p:spPr>
          <a:xfrm>
            <a:off x="9006840" y="36118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sellos de verificación para comercios destacados.</a:t>
            </a:r>
            <a:endParaRPr lang="es-CL" sz="1400" noProof="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 · Definición de Proyecto APT</a:t>
            </a:r>
            <a:endParaRPr lang="es-CL" sz="900" noProof="0" dirty="0"/>
          </a:p>
        </p:txBody>
      </p:sp>
      <p:sp>
        <p:nvSpPr>
          <p:cNvPr id="25" name="Text 19"/>
          <p:cNvSpPr txBox="1"/>
          <p:nvPr/>
        </p:nvSpPr>
        <p:spPr>
          <a:xfrm>
            <a:off x="10972800" y="6528816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900" noProof="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s-CL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EAF6EC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F5FBF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5394960" y="146304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leaf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945" y="1570025"/>
            <a:ext cx="608990" cy="6089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514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4400" b="1" kern="0" spc="200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s-CL" sz="44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88036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3400" b="1" noProof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Paradero Vegano</a:t>
            </a:r>
            <a:endParaRPr lang="es-CL" sz="34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4023360"/>
            <a:ext cx="7251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s-CL" sz="2000" noProof="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ser el punto de encuentro entre consumidores y comercios veganos en Chile, combinando evidencia colaborativa e inteligencia artificial para dar confianza a una comunidad que hoy no cuenta con herramientas suficientes.</a:t>
            </a:r>
            <a:endParaRPr lang="es-CL" sz="20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8A9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Muriel Labra  ·  Manuel Bastidas</a:t>
            </a:r>
            <a:endParaRPr lang="es-CL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1119</Words>
  <Application>Microsoft Office PowerPoint</Application>
  <PresentationFormat>Panorámica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muriel labra</cp:lastModifiedBy>
  <cp:revision>4</cp:revision>
  <dcterms:created xsi:type="dcterms:W3CDTF">2026-09-11T00:31:24Z</dcterms:created>
  <dcterms:modified xsi:type="dcterms:W3CDTF">2026-09-11T01:21:12Z</dcterms:modified>
</cp:coreProperties>
</file>