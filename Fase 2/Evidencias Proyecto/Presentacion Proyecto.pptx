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9" r:id="rId7"/>
    <p:sldId id="261" r:id="rId8"/>
    <p:sldId id="262" r:id="rId9"/>
    <p:sldId id="263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02940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[Muriel · 0:15]
Hola, somos Muriel Labra y Manuel Bastidas, y les vamos a presentar el avance de Paradero Vegano, una plataforma móvil y web para descubrir, verificar y promover opciones veganas en Chile.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[Muriel · 0:45]
En Chile cada vez más gente consume productos veganos: un 18% se declara vegano, vegetariano o flexitariano y un 47% consumió productos veganos el último año. Pero la información no es confiable: hay diferencias entre lo que dice la etiqueta y lo que se verifica, y los directorios son estáticos. Nuestra propuesta es una plataforma con evidencia colaborativa y actualizada, apoyada en inteligencia artificial, mapa y escaneo de código de barras, y con un panel para que los comercios entiendan lo que busca su comunidad.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[Muriel · 0:45]
La plataforma tiene seis grandes áreas. Los usuarios pueden explorar lugares con búsqueda y filtros, verlos en lista o en un mapa, verificar productos con la evidencia que comparte la comunidad, guardar favoritos y armar su lista de compras, y acceder a un recetario que forma parte del plan premium. Y para los comercios, existe la sección Mi comercio con métricas de búsquedas, visitas y aportes. Esto es lo que vamos a mostrar en la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[Manuel · 0:50]
Respecto a la arquitectura: el frontend web y móvil está pensado en React y React Native, con el diseño hecho en Figma. El backend usa Node.js y Express para exponer servicios REST, y la base de datos es PostgreSQL, donde guardamos usuarios, comercios, productos y evidencia. Además tenemos el módulo de inteligencia artificial para analizar etiquetas y menús, el mapa con geolocalización y código de barras, y las notificaciones y el hosting en la nube.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[Manuel · 0:45]
Sobre el plan de trabajo, de las 15 actividades, 5 están completadas: la definición, los requerimientos y la arquitectura, el diseño UX/UI, la base de datos y el backend con sus APIs. Hay 4 en curso: el frontend, el módulo de inteligencia artificial, la geolocalización con código de barras y las notificaciones con inteligencia de negocios. Y las 6 restantes corresponden a etapas posteriores, como la suscripción, las pruebas y despliegue, y la validación con usuarios reales. Estamos avanzando dentro de los plazos que planificamos.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[Muriel y Manuel · 5:00]
Ahora les mostramos cómo quedó la versión 3. Muriel recorre la vista de usuario: 1) explorar y filtrar lugares; 2) cambiar entre lista y mapa; 3) el verificador y compartir evidencia; 4) favoritos y lista de compras; 5) recetario. Luego Manuel muestra la vista de comercio, Mi comercio, con métricas de búsquedas, visitas, aportes y búsquedas sin resultados, y comenta cómo se conecta con el backend. Si preguntan por el diseño: la v1 fue el prototipo base, la v2 definió la identidad visual y la v3 mejora textos, accesos rápidos y el panel de comercio. Nota: las métricas y lugares son datos de ejemplo, y la propia interfaz lo indica.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[Manuel · 0:50]
Lo que viene es, primero, integrar la interfaz con el backend, la inteligencia artificial, la geolocalización, las notificaciones y el panel de negocios. Luego, las pruebas y el despliegue de la plataforma. Después, la validación en una zona piloto de Santiago con usuarios y pequeños comercios reales, y finalmente el análisis de resultados y la documentación para el cierre, a mediados de diciembre.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[Manuel · 0:40]
En resumen, Paradero Vegano busca ser el punto de encuentro entre consumidores y comercios veganos en Chile, combinando evidencia colaborativa e inteligencia artificial para dar confianza a una comunidad que hoy no tiene herramientas suficientes. Muchas gracias por su atención, quedamos atentos a sus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2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F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05520" y="-1452880"/>
            <a:ext cx="5669280" cy="5669280"/>
          </a:xfrm>
          <a:prstGeom prst="ellipse">
            <a:avLst/>
          </a:prstGeom>
          <a:solidFill>
            <a:srgbClr val="EAF6EC"/>
          </a:solidFill>
          <a:ln w="12700">
            <a:solidFill>
              <a:srgbClr val="EAF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Shape 1"/>
          <p:cNvSpPr/>
          <p:nvPr/>
        </p:nvSpPr>
        <p:spPr>
          <a:xfrm>
            <a:off x="9966960" y="4114800"/>
            <a:ext cx="3840480" cy="384048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rgbClr val="F5FBF6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4" name="Shape 2"/>
          <p:cNvSpPr/>
          <p:nvPr/>
        </p:nvSpPr>
        <p:spPr>
          <a:xfrm>
            <a:off x="822960" y="731520"/>
            <a:ext cx="640080" cy="64008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pic>
        <p:nvPicPr>
          <p:cNvPr id="5" name="Image 0" descr="icons/LuLeaf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88513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1031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L" sz="6000" b="1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Paradero Vegano</a:t>
            </a:r>
            <a:endParaRPr lang="es-CL" sz="6000" noProof="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29184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L" sz="2200" noProof="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móvil y web para descubrir, verificar y promover opciones veganas en Chile</a:t>
            </a:r>
            <a:endParaRPr lang="es-CL" sz="2200" noProof="0" dirty="0"/>
          </a:p>
        </p:txBody>
      </p:sp>
      <p:sp>
        <p:nvSpPr>
          <p:cNvPr id="9" name="Text 6"/>
          <p:cNvSpPr txBox="1"/>
          <p:nvPr/>
        </p:nvSpPr>
        <p:spPr>
          <a:xfrm>
            <a:off x="619760" y="5149017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L" sz="1100" b="1" kern="0" spc="300" noProof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 DESARROLLO:</a:t>
            </a:r>
            <a:endParaRPr lang="es-CL" sz="1100" noProof="0" dirty="0"/>
          </a:p>
        </p:txBody>
      </p:sp>
      <p:sp>
        <p:nvSpPr>
          <p:cNvPr id="10" name="Text 7"/>
          <p:cNvSpPr txBox="1"/>
          <p:nvPr/>
        </p:nvSpPr>
        <p:spPr>
          <a:xfrm>
            <a:off x="619760" y="54610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s-CL" sz="1600" b="1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Muriel Labra</a:t>
            </a:r>
            <a:r>
              <a:rPr lang="es-CL" sz="1600" b="1" noProof="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CL" sz="1600" b="1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Sepúlveda</a:t>
            </a:r>
            <a:r>
              <a:rPr lang="es-CL" sz="1600" noProof="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 Frontend, IA y liderazgo</a:t>
            </a:r>
            <a:endParaRPr lang="es-CL" sz="1600" noProof="0" dirty="0"/>
          </a:p>
          <a:p>
            <a:pPr marL="0" indent="0">
              <a:spcAft>
                <a:spcPts val="600"/>
              </a:spcAft>
              <a:buNone/>
            </a:pPr>
            <a:r>
              <a:rPr lang="es-CL" sz="1600" b="1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 Bastidas Ibarra</a:t>
            </a:r>
            <a:r>
              <a:rPr lang="es-CL" sz="1600" noProof="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Backend, UX/UI y QA</a:t>
            </a:r>
          </a:p>
          <a:p>
            <a:pPr marL="0" indent="0">
              <a:spcAft>
                <a:spcPts val="600"/>
              </a:spcAft>
              <a:buNone/>
            </a:pPr>
            <a:endParaRPr lang="es-CL" sz="1600" b="1" dirty="0">
              <a:solidFill>
                <a:srgbClr val="1F293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L" sz="1000" noProof="0" dirty="0">
                <a:solidFill>
                  <a:srgbClr val="8A9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en Informática · Sede San Joaquín · Duoc UC</a:t>
            </a:r>
            <a:endParaRPr lang="es-CL" sz="1000" noProof="0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5413E1CF-6062-D961-C344-30CB116BD35E}"/>
              </a:ext>
            </a:extLst>
          </p:cNvPr>
          <p:cNvSpPr txBox="1"/>
          <p:nvPr/>
        </p:nvSpPr>
        <p:spPr>
          <a:xfrm>
            <a:off x="548640" y="4815840"/>
            <a:ext cx="67665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100" b="1" kern="0" spc="3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</a:t>
            </a:r>
            <a:r>
              <a:rPr lang="es-CL" sz="1400" b="1" kern="0" spc="150" noProof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s-CL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 Zuñiga</a:t>
            </a:r>
            <a:endParaRPr lang="es-CL" sz="1300" b="1" dirty="0">
              <a:solidFill>
                <a:srgbClr val="1F293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42284986-4674-2881-F39E-3338358B41A0}"/>
              </a:ext>
            </a:extLst>
          </p:cNvPr>
          <p:cNvSpPr txBox="1"/>
          <p:nvPr/>
        </p:nvSpPr>
        <p:spPr>
          <a:xfrm>
            <a:off x="1725981" y="777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1300" b="1" kern="0" spc="150" noProof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CAPSTONE · INGENIERÍA EN INFORMÁTICA</a:t>
            </a:r>
            <a:endParaRPr lang="es-CL" sz="13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400" b="1" kern="0" spc="300" noProof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Y OPORTUNIDAD</a:t>
            </a:r>
            <a:endParaRPr lang="es-CL" sz="1400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L" sz="4000" b="1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Problemática y  propuesta</a:t>
            </a:r>
            <a:endParaRPr lang="es-CL" sz="4000" noProof="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000" noProof="0" dirty="0">
                <a:solidFill>
                  <a:srgbClr val="8A9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Paradero Vegano · Avance del proyecto</a:t>
            </a:r>
            <a:endParaRPr lang="es-CL" sz="1000" noProof="0" dirty="0"/>
          </a:p>
        </p:txBody>
      </p:sp>
      <p:sp>
        <p:nvSpPr>
          <p:cNvPr id="5" name="Text 3"/>
          <p:cNvSpPr txBox="1"/>
          <p:nvPr/>
        </p:nvSpPr>
        <p:spPr>
          <a:xfrm>
            <a:off x="10607040" y="6355080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L" sz="1000" noProof="0" dirty="0">
                <a:solidFill>
                  <a:srgbClr val="8A9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s-CL" sz="1000" noProof="0" dirty="0"/>
          </a:p>
        </p:txBody>
      </p:sp>
      <p:sp>
        <p:nvSpPr>
          <p:cNvPr id="6" name="problema"/>
          <p:cNvSpPr/>
          <p:nvPr/>
        </p:nvSpPr>
        <p:spPr>
          <a:xfrm>
            <a:off x="640080" y="1645920"/>
            <a:ext cx="5394960" cy="4434840"/>
          </a:xfrm>
          <a:prstGeom prst="roundRect">
            <a:avLst>
              <a:gd name="adj" fmla="val 2474"/>
            </a:avLst>
          </a:prstGeom>
          <a:solidFill>
            <a:srgbClr val="E1E4E8"/>
          </a:solidFill>
          <a:ln w="9525">
            <a:solidFill>
              <a:srgbClr val="DCE7DF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1874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L" sz="1600" b="1" kern="0" spc="300" noProof="0" dirty="0">
                <a:solidFill>
                  <a:srgbClr val="B76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s-CL" sz="1600" noProof="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2860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L" sz="4400" b="1" noProof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s-CL" sz="4400" noProof="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0175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L" sz="1600" noProof="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declara vegano, vegetariano o flexitariano (Animal Libre &amp; </a:t>
            </a:r>
            <a:r>
              <a:rPr lang="es-CL" sz="1600" noProof="0" dirty="0" err="1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</a:t>
            </a:r>
            <a:r>
              <a:rPr lang="es-CL" sz="1600" noProof="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2022)</a:t>
            </a:r>
            <a:endParaRPr lang="es-CL" sz="1600" noProof="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22860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L" sz="4400" b="1" noProof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</a:t>
            </a:r>
            <a:endParaRPr lang="es-CL" sz="4400" noProof="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30175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L" sz="1600" noProof="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Consumió productos veganos el último año (Ipsos Chile &amp; Fundación </a:t>
            </a:r>
            <a:r>
              <a:rPr lang="es-CL" sz="1600" noProof="0" dirty="0" err="1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</a:t>
            </a:r>
            <a:r>
              <a:rPr lang="es-CL" sz="1600" noProof="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2025)</a:t>
            </a:r>
            <a:endParaRPr lang="es-CL" sz="1600" noProof="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20624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s-CL" sz="1600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Diferencias entre lo declarado y lo verificado en el etiquetado (ODECU, 2024)</a:t>
            </a:r>
            <a:endParaRPr lang="es-CL" sz="1600" noProof="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s-CL" sz="1600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Directorios con información estática, rara vez actualizada</a:t>
            </a:r>
            <a:endParaRPr lang="es-CL" sz="1600" noProof="0" dirty="0"/>
          </a:p>
        </p:txBody>
      </p:sp>
      <p:sp>
        <p:nvSpPr>
          <p:cNvPr id="13" name="propuesta"/>
          <p:cNvSpPr/>
          <p:nvPr/>
        </p:nvSpPr>
        <p:spPr>
          <a:xfrm>
            <a:off x="6309360" y="1645920"/>
            <a:ext cx="5239512" cy="4434840"/>
          </a:xfrm>
          <a:prstGeom prst="roundRect">
            <a:avLst>
              <a:gd name="adj" fmla="val 2474"/>
            </a:avLst>
          </a:prstGeom>
          <a:solidFill>
            <a:srgbClr val="EAF6EC"/>
          </a:solidFill>
          <a:ln w="9525">
            <a:solidFill>
              <a:srgbClr val="DCE7DF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1874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L" sz="1600" b="1" kern="0" spc="300" noProof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</a:t>
            </a:r>
            <a:endParaRPr lang="es-CL" sz="1600" noProof="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2377440"/>
            <a:ext cx="47548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s-CL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colaborativa y actualizada, aportada por usuarios y comercios</a:t>
            </a:r>
            <a:endParaRPr lang="es-CL" noProof="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s-CL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 artificial para analizar fotografías de etiquetas y menús</a:t>
            </a:r>
            <a:endParaRPr lang="es-CL" noProof="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s-CL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Mapa, geolocalización y escaneo de código de barras</a:t>
            </a:r>
            <a:endParaRPr lang="es-CL" noProof="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s-CL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inteligencia de negocios para que los comercios conozcan la demanda</a:t>
            </a:r>
            <a:endParaRPr lang="es-CL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400" b="1" kern="0" spc="300" noProof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</a:t>
            </a:r>
            <a:endParaRPr lang="es-CL" sz="1200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L" sz="4000" b="1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incluye Paradero Vegano</a:t>
            </a:r>
            <a:endParaRPr lang="es-CL" sz="4000" noProof="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000" noProof="0" dirty="0">
                <a:solidFill>
                  <a:srgbClr val="8A9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Paradero Vegano · Avance del proyecto</a:t>
            </a:r>
            <a:endParaRPr lang="es-CL" sz="1000" noProof="0" dirty="0"/>
          </a:p>
        </p:txBody>
      </p:sp>
      <p:sp>
        <p:nvSpPr>
          <p:cNvPr id="5" name="Text 3"/>
          <p:cNvSpPr txBox="1"/>
          <p:nvPr/>
        </p:nvSpPr>
        <p:spPr>
          <a:xfrm>
            <a:off x="10607040" y="6355080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L" sz="1000" noProof="0" dirty="0">
                <a:solidFill>
                  <a:srgbClr val="8A9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s-CL" sz="1000" noProof="0" dirty="0"/>
          </a:p>
        </p:txBody>
      </p:sp>
      <p:sp>
        <p:nvSpPr>
          <p:cNvPr id="6" name="card"/>
          <p:cNvSpPr/>
          <p:nvPr/>
        </p:nvSpPr>
        <p:spPr>
          <a:xfrm>
            <a:off x="640080" y="1691640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F5FBF6"/>
          </a:solidFill>
          <a:ln w="9525">
            <a:solidFill>
              <a:srgbClr val="DCE7DF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7" name="Shape 5"/>
          <p:cNvSpPr/>
          <p:nvPr/>
        </p:nvSpPr>
        <p:spPr>
          <a:xfrm>
            <a:off x="914400" y="1947672"/>
            <a:ext cx="566928" cy="56692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pic>
        <p:nvPicPr>
          <p:cNvPr id="8" name="Image 0" descr="icons/LuCompass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463" y="2083735"/>
            <a:ext cx="294803" cy="294803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14400" y="2606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L" sz="1700" b="1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Explorar lugares</a:t>
            </a:r>
            <a:endParaRPr lang="es-CL" sz="1700" noProof="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299008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L" sz="1400" noProof="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de lugares, productos e ingredientes, con filtros por tipo de local.</a:t>
            </a:r>
            <a:endParaRPr lang="es-CL" sz="1400" noProof="0" dirty="0"/>
          </a:p>
        </p:txBody>
      </p:sp>
      <p:sp>
        <p:nvSpPr>
          <p:cNvPr id="11" name="card"/>
          <p:cNvSpPr/>
          <p:nvPr/>
        </p:nvSpPr>
        <p:spPr>
          <a:xfrm>
            <a:off x="4334256" y="1691640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F5FBF6"/>
          </a:solidFill>
          <a:ln w="9525">
            <a:solidFill>
              <a:srgbClr val="DCE7DF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12" name="Shape 9"/>
          <p:cNvSpPr/>
          <p:nvPr/>
        </p:nvSpPr>
        <p:spPr>
          <a:xfrm>
            <a:off x="4608576" y="1947672"/>
            <a:ext cx="566928" cy="56692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pic>
        <p:nvPicPr>
          <p:cNvPr id="13" name="Image 1" descr="icons/LuMap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4639" y="2083735"/>
            <a:ext cx="294803" cy="294803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608576" y="2606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L" sz="1700" b="1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y mapa</a:t>
            </a:r>
            <a:endParaRPr lang="es-CL" sz="1700" noProof="0" dirty="0"/>
          </a:p>
        </p:txBody>
      </p:sp>
      <p:sp>
        <p:nvSpPr>
          <p:cNvPr id="15" name="Text 11"/>
          <p:cNvSpPr txBox="1"/>
          <p:nvPr/>
        </p:nvSpPr>
        <p:spPr>
          <a:xfrm>
            <a:off x="4608576" y="299008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L" sz="1400" noProof="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de lista o mapa para encontrar opciones cercanas en Santiago.</a:t>
            </a:r>
            <a:endParaRPr lang="es-CL" sz="1400" noProof="0" dirty="0"/>
          </a:p>
        </p:txBody>
      </p:sp>
      <p:sp>
        <p:nvSpPr>
          <p:cNvPr id="16" name="card"/>
          <p:cNvSpPr/>
          <p:nvPr/>
        </p:nvSpPr>
        <p:spPr>
          <a:xfrm>
            <a:off x="8028432" y="1691640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F5FBF6"/>
          </a:solidFill>
          <a:ln w="9525">
            <a:solidFill>
              <a:srgbClr val="DCE7DF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17" name="Shape 13"/>
          <p:cNvSpPr/>
          <p:nvPr/>
        </p:nvSpPr>
        <p:spPr>
          <a:xfrm>
            <a:off x="8302752" y="1947672"/>
            <a:ext cx="566928" cy="56692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pic>
        <p:nvPicPr>
          <p:cNvPr id="18" name="Image 2" descr="icons/LuScanLine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8815" y="2083735"/>
            <a:ext cx="294803" cy="294803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302752" y="2606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L" sz="1700" b="1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Verificador</a:t>
            </a:r>
            <a:endParaRPr lang="es-CL" sz="1700" noProof="0" dirty="0"/>
          </a:p>
        </p:txBody>
      </p:sp>
      <p:sp>
        <p:nvSpPr>
          <p:cNvPr id="20" name="Text 15"/>
          <p:cNvSpPr txBox="1"/>
          <p:nvPr/>
        </p:nvSpPr>
        <p:spPr>
          <a:xfrm>
            <a:off x="8302752" y="299008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L" sz="1400" noProof="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de productos y evidencia compartida por la comunidad.</a:t>
            </a:r>
            <a:endParaRPr lang="es-CL" sz="1400" noProof="0" dirty="0"/>
          </a:p>
        </p:txBody>
      </p:sp>
      <p:sp>
        <p:nvSpPr>
          <p:cNvPr id="21" name="card"/>
          <p:cNvSpPr/>
          <p:nvPr/>
        </p:nvSpPr>
        <p:spPr>
          <a:xfrm>
            <a:off x="640080" y="3931920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F5FBF6"/>
          </a:solidFill>
          <a:ln w="9525">
            <a:solidFill>
              <a:srgbClr val="DCE7DF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22" name="Shape 17"/>
          <p:cNvSpPr/>
          <p:nvPr/>
        </p:nvSpPr>
        <p:spPr>
          <a:xfrm>
            <a:off x="914400" y="4187952"/>
            <a:ext cx="566928" cy="56692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pic>
        <p:nvPicPr>
          <p:cNvPr id="23" name="Image 3" descr="icons/LuHeart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0463" y="4324015"/>
            <a:ext cx="294803" cy="294803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14400" y="4846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L" sz="1700" b="1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Favoritos y lista de compras</a:t>
            </a:r>
            <a:endParaRPr lang="es-CL" sz="1700" noProof="0" dirty="0"/>
          </a:p>
        </p:txBody>
      </p:sp>
      <p:sp>
        <p:nvSpPr>
          <p:cNvPr id="25" name="Text 19"/>
          <p:cNvSpPr txBox="1"/>
          <p:nvPr/>
        </p:nvSpPr>
        <p:spPr>
          <a:xfrm>
            <a:off x="914400" y="523036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L" sz="1400" noProof="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lugares y armar la lista de compras con productos verificados.</a:t>
            </a:r>
            <a:endParaRPr lang="es-CL" sz="1400" noProof="0" dirty="0"/>
          </a:p>
        </p:txBody>
      </p:sp>
      <p:sp>
        <p:nvSpPr>
          <p:cNvPr id="26" name="card"/>
          <p:cNvSpPr/>
          <p:nvPr/>
        </p:nvSpPr>
        <p:spPr>
          <a:xfrm>
            <a:off x="4334256" y="3931920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F5FBF6"/>
          </a:solidFill>
          <a:ln w="9525">
            <a:solidFill>
              <a:srgbClr val="DCE7DF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27" name="Shape 21"/>
          <p:cNvSpPr/>
          <p:nvPr/>
        </p:nvSpPr>
        <p:spPr>
          <a:xfrm>
            <a:off x="4608576" y="4187952"/>
            <a:ext cx="566928" cy="56692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pic>
        <p:nvPicPr>
          <p:cNvPr id="28" name="Image 4" descr="icons/LuBookOpen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44639" y="4324015"/>
            <a:ext cx="294803" cy="294803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4608576" y="4846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L" sz="1700" b="1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Recetario</a:t>
            </a:r>
            <a:endParaRPr lang="es-CL" sz="1700" noProof="0" dirty="0"/>
          </a:p>
        </p:txBody>
      </p:sp>
      <p:sp>
        <p:nvSpPr>
          <p:cNvPr id="30" name="Text 23"/>
          <p:cNvSpPr txBox="1"/>
          <p:nvPr/>
        </p:nvSpPr>
        <p:spPr>
          <a:xfrm>
            <a:off x="4608576" y="523036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L" sz="1400" noProof="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recetas veganas, parte del plan premium.</a:t>
            </a:r>
            <a:endParaRPr lang="es-CL" sz="1400" noProof="0" dirty="0"/>
          </a:p>
        </p:txBody>
      </p:sp>
      <p:sp>
        <p:nvSpPr>
          <p:cNvPr id="31" name="card"/>
          <p:cNvSpPr/>
          <p:nvPr/>
        </p:nvSpPr>
        <p:spPr>
          <a:xfrm>
            <a:off x="8028432" y="3931920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F5FBF6"/>
          </a:solidFill>
          <a:ln w="9525">
            <a:solidFill>
              <a:srgbClr val="DCE7DF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32" name="Shape 25"/>
          <p:cNvSpPr/>
          <p:nvPr/>
        </p:nvSpPr>
        <p:spPr>
          <a:xfrm>
            <a:off x="8302752" y="4187952"/>
            <a:ext cx="566928" cy="56692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pic>
        <p:nvPicPr>
          <p:cNvPr id="33" name="Image 5" descr="icons/LuStore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38815" y="4324015"/>
            <a:ext cx="294803" cy="294803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8302752" y="4846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L" sz="1700" b="1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comercio</a:t>
            </a:r>
            <a:endParaRPr lang="es-CL" sz="1700" noProof="0" dirty="0"/>
          </a:p>
        </p:txBody>
      </p:sp>
      <p:sp>
        <p:nvSpPr>
          <p:cNvPr id="35" name="Text 27"/>
          <p:cNvSpPr txBox="1"/>
          <p:nvPr/>
        </p:nvSpPr>
        <p:spPr>
          <a:xfrm>
            <a:off x="8302752" y="523036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L" sz="1400" noProof="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con búsquedas, visitas, aportes y búsquedas sin resultados.</a:t>
            </a:r>
            <a:endParaRPr lang="es-CL" sz="1400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400" b="1" kern="0" spc="300" noProof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Y TECNOLOGÍAS</a:t>
            </a:r>
            <a:endParaRPr lang="es-CL" sz="1400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L" sz="4000" b="1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está construida la plataforma</a:t>
            </a:r>
            <a:endParaRPr lang="es-CL" sz="4000" noProof="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000" noProof="0" dirty="0">
                <a:solidFill>
                  <a:srgbClr val="8A9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Paradero Vegano · Avance del proyecto</a:t>
            </a:r>
            <a:endParaRPr lang="es-CL" sz="1000" noProof="0" dirty="0"/>
          </a:p>
        </p:txBody>
      </p:sp>
      <p:sp>
        <p:nvSpPr>
          <p:cNvPr id="5" name="Text 3"/>
          <p:cNvSpPr txBox="1"/>
          <p:nvPr/>
        </p:nvSpPr>
        <p:spPr>
          <a:xfrm>
            <a:off x="10607040" y="6355080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L" sz="1000" noProof="0" dirty="0">
                <a:solidFill>
                  <a:srgbClr val="8A9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s-CL" sz="1000" noProof="0" dirty="0"/>
          </a:p>
        </p:txBody>
      </p:sp>
      <p:sp>
        <p:nvSpPr>
          <p:cNvPr id="6" name="card"/>
          <p:cNvSpPr/>
          <p:nvPr/>
        </p:nvSpPr>
        <p:spPr>
          <a:xfrm>
            <a:off x="640080" y="1691640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F5FBF6"/>
          </a:solidFill>
          <a:ln w="9525">
            <a:solidFill>
              <a:srgbClr val="DCE7DF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7" name="Shape 5"/>
          <p:cNvSpPr/>
          <p:nvPr/>
        </p:nvSpPr>
        <p:spPr>
          <a:xfrm>
            <a:off x="914400" y="1947672"/>
            <a:ext cx="566928" cy="56692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pic>
        <p:nvPicPr>
          <p:cNvPr id="8" name="Image 0" descr="icons/LuSmartphon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463" y="2083735"/>
            <a:ext cx="294803" cy="294803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14400" y="2606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L" sz="1700" b="1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móvil y web</a:t>
            </a:r>
            <a:endParaRPr lang="es-CL" sz="1700" noProof="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299008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L" sz="1400" noProof="0" dirty="0" err="1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r>
              <a:rPr lang="es-CL" sz="1400" noProof="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(web) y </a:t>
            </a:r>
            <a:r>
              <a:rPr lang="es-CL" sz="1400" noProof="0" dirty="0" err="1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r>
              <a:rPr lang="es-CL" sz="1400" noProof="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Native (móvil), con </a:t>
            </a:r>
            <a:r>
              <a:rPr lang="es-CL" sz="1400" noProof="0" dirty="0" err="1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</a:t>
            </a:r>
            <a:r>
              <a:rPr lang="es-CL" sz="1400" noProof="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el diseño UX/UI.</a:t>
            </a:r>
            <a:endParaRPr lang="es-CL" sz="1400" noProof="0" dirty="0"/>
          </a:p>
        </p:txBody>
      </p:sp>
      <p:sp>
        <p:nvSpPr>
          <p:cNvPr id="11" name="card"/>
          <p:cNvSpPr/>
          <p:nvPr/>
        </p:nvSpPr>
        <p:spPr>
          <a:xfrm>
            <a:off x="4334256" y="1691640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F5FBF6"/>
          </a:solidFill>
          <a:ln w="9525">
            <a:solidFill>
              <a:srgbClr val="DCE7DF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12" name="Shape 9"/>
          <p:cNvSpPr/>
          <p:nvPr/>
        </p:nvSpPr>
        <p:spPr>
          <a:xfrm>
            <a:off x="4608576" y="1947672"/>
            <a:ext cx="566928" cy="56692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pic>
        <p:nvPicPr>
          <p:cNvPr id="13" name="Image 1" descr="icons/LuCod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4639" y="2083735"/>
            <a:ext cx="294803" cy="294803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608576" y="2606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L" sz="1700" b="1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y </a:t>
            </a:r>
            <a:r>
              <a:rPr lang="es-CL" sz="1700" b="1" noProof="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</a:t>
            </a:r>
            <a:endParaRPr lang="es-CL" sz="1700" noProof="0" dirty="0"/>
          </a:p>
        </p:txBody>
      </p:sp>
      <p:sp>
        <p:nvSpPr>
          <p:cNvPr id="15" name="Text 11"/>
          <p:cNvSpPr txBox="1"/>
          <p:nvPr/>
        </p:nvSpPr>
        <p:spPr>
          <a:xfrm>
            <a:off x="4608576" y="299008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L" sz="1400" noProof="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y Express para la lógica de negocio y los servicios REST.</a:t>
            </a:r>
            <a:endParaRPr lang="es-CL" sz="1400" noProof="0" dirty="0"/>
          </a:p>
        </p:txBody>
      </p:sp>
      <p:sp>
        <p:nvSpPr>
          <p:cNvPr id="16" name="card"/>
          <p:cNvSpPr/>
          <p:nvPr/>
        </p:nvSpPr>
        <p:spPr>
          <a:xfrm>
            <a:off x="8028432" y="1691640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F5FBF6"/>
          </a:solidFill>
          <a:ln w="9525">
            <a:solidFill>
              <a:srgbClr val="DCE7DF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17" name="Shape 13"/>
          <p:cNvSpPr/>
          <p:nvPr/>
        </p:nvSpPr>
        <p:spPr>
          <a:xfrm>
            <a:off x="8302752" y="1947672"/>
            <a:ext cx="566928" cy="56692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pic>
        <p:nvPicPr>
          <p:cNvPr id="18" name="Image 2" descr="icons/LuDatabase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8815" y="2083735"/>
            <a:ext cx="294803" cy="294803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302752" y="2606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L" sz="1700" b="1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s-CL" sz="1700" noProof="0" dirty="0"/>
          </a:p>
        </p:txBody>
      </p:sp>
      <p:sp>
        <p:nvSpPr>
          <p:cNvPr id="20" name="Text 15"/>
          <p:cNvSpPr txBox="1"/>
          <p:nvPr/>
        </p:nvSpPr>
        <p:spPr>
          <a:xfrm>
            <a:off x="8302752" y="299008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L" sz="1400" noProof="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para usuarios, comercios, productos y evidencia, con hosting en la nube.</a:t>
            </a:r>
            <a:endParaRPr lang="es-CL" sz="1400" noProof="0" dirty="0"/>
          </a:p>
        </p:txBody>
      </p:sp>
      <p:sp>
        <p:nvSpPr>
          <p:cNvPr id="21" name="card"/>
          <p:cNvSpPr/>
          <p:nvPr/>
        </p:nvSpPr>
        <p:spPr>
          <a:xfrm>
            <a:off x="640080" y="3931920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F5FBF6"/>
          </a:solidFill>
          <a:ln w="9525">
            <a:solidFill>
              <a:srgbClr val="DCE7DF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22" name="Shape 17"/>
          <p:cNvSpPr/>
          <p:nvPr/>
        </p:nvSpPr>
        <p:spPr>
          <a:xfrm>
            <a:off x="914400" y="4187952"/>
            <a:ext cx="566928" cy="56692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pic>
        <p:nvPicPr>
          <p:cNvPr id="23" name="Image 3" descr="icons/LuBrain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0463" y="4324015"/>
            <a:ext cx="294803" cy="294803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14400" y="4846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L" sz="1700" b="1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 artificial</a:t>
            </a:r>
            <a:endParaRPr lang="es-CL" sz="1700" noProof="0" dirty="0"/>
          </a:p>
        </p:txBody>
      </p:sp>
      <p:sp>
        <p:nvSpPr>
          <p:cNvPr id="25" name="Text 19"/>
          <p:cNvSpPr txBox="1"/>
          <p:nvPr/>
        </p:nvSpPr>
        <p:spPr>
          <a:xfrm>
            <a:off x="914400" y="523036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L" sz="1400" noProof="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</a:t>
            </a:r>
            <a:r>
              <a:rPr lang="es-CL" sz="1400" noProof="0" dirty="0" err="1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preentrenados</a:t>
            </a:r>
            <a:r>
              <a:rPr lang="es-CL" sz="1400" noProof="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visión computacional para etiquetas y menús.</a:t>
            </a:r>
            <a:endParaRPr lang="es-CL" sz="1400" noProof="0" dirty="0"/>
          </a:p>
        </p:txBody>
      </p:sp>
      <p:sp>
        <p:nvSpPr>
          <p:cNvPr id="26" name="card"/>
          <p:cNvSpPr/>
          <p:nvPr/>
        </p:nvSpPr>
        <p:spPr>
          <a:xfrm>
            <a:off x="4334256" y="3931920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F5FBF6"/>
          </a:solidFill>
          <a:ln w="9525">
            <a:solidFill>
              <a:srgbClr val="DCE7DF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27" name="Shape 21"/>
          <p:cNvSpPr/>
          <p:nvPr/>
        </p:nvSpPr>
        <p:spPr>
          <a:xfrm>
            <a:off x="4608576" y="4187952"/>
            <a:ext cx="566928" cy="56692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pic>
        <p:nvPicPr>
          <p:cNvPr id="28" name="Image 4" descr="icons/LuMapPin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44639" y="4324015"/>
            <a:ext cx="294803" cy="294803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4608576" y="4846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L" sz="1700" b="1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Mapas y geolocalización</a:t>
            </a:r>
            <a:endParaRPr lang="es-CL" sz="1700" noProof="0" dirty="0"/>
          </a:p>
        </p:txBody>
      </p:sp>
      <p:sp>
        <p:nvSpPr>
          <p:cNvPr id="30" name="Text 23"/>
          <p:cNvSpPr txBox="1"/>
          <p:nvPr/>
        </p:nvSpPr>
        <p:spPr>
          <a:xfrm>
            <a:off x="4608576" y="523036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L" sz="1400" noProof="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con marcadores de ubicación y lectura de código de barras.</a:t>
            </a:r>
            <a:endParaRPr lang="es-CL" sz="1400" noProof="0" dirty="0"/>
          </a:p>
        </p:txBody>
      </p:sp>
      <p:sp>
        <p:nvSpPr>
          <p:cNvPr id="31" name="card"/>
          <p:cNvSpPr/>
          <p:nvPr/>
        </p:nvSpPr>
        <p:spPr>
          <a:xfrm>
            <a:off x="8028432" y="3931920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F5FBF6"/>
          </a:solidFill>
          <a:ln w="9525">
            <a:solidFill>
              <a:srgbClr val="DCE7DF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32" name="Shape 25"/>
          <p:cNvSpPr/>
          <p:nvPr/>
        </p:nvSpPr>
        <p:spPr>
          <a:xfrm>
            <a:off x="8302752" y="4187952"/>
            <a:ext cx="566928" cy="56692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pic>
        <p:nvPicPr>
          <p:cNvPr id="33" name="Image 5" descr="icons/LuCloud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38815" y="4324015"/>
            <a:ext cx="294803" cy="294803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8302752" y="4846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L" sz="1700" b="1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y hosting</a:t>
            </a:r>
            <a:endParaRPr lang="es-CL" sz="1700" noProof="0" dirty="0"/>
          </a:p>
        </p:txBody>
      </p:sp>
      <p:sp>
        <p:nvSpPr>
          <p:cNvPr id="35" name="Text 27"/>
          <p:cNvSpPr txBox="1"/>
          <p:nvPr/>
        </p:nvSpPr>
        <p:spPr>
          <a:xfrm>
            <a:off x="8302752" y="523036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L" sz="1400" noProof="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</a:t>
            </a:r>
            <a:r>
              <a:rPr lang="es-CL" sz="1400" noProof="0" dirty="0" err="1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r>
              <a:rPr lang="es-CL" sz="1400" noProof="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servicios en la nube de bajo costo.</a:t>
            </a:r>
            <a:endParaRPr lang="es-CL" sz="1400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100" b="1" kern="0" spc="300" noProof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DEL PROYECTO</a:t>
            </a:r>
            <a:endParaRPr lang="es-CL" sz="1100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L" sz="4000" b="1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según el plan de trabajo</a:t>
            </a:r>
            <a:endParaRPr lang="es-CL" sz="4000" noProof="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000" noProof="0" dirty="0">
                <a:solidFill>
                  <a:srgbClr val="8A9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Paradero Vegano · Avance del proyecto</a:t>
            </a:r>
            <a:endParaRPr lang="es-CL" sz="1000" noProof="0" dirty="0"/>
          </a:p>
        </p:txBody>
      </p:sp>
      <p:sp>
        <p:nvSpPr>
          <p:cNvPr id="5" name="Text 3"/>
          <p:cNvSpPr txBox="1"/>
          <p:nvPr/>
        </p:nvSpPr>
        <p:spPr>
          <a:xfrm>
            <a:off x="10607040" y="6355080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L" sz="1000" noProof="0" dirty="0">
                <a:solidFill>
                  <a:srgbClr val="8A9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s-CL" sz="1000" noProof="0" dirty="0"/>
          </a:p>
        </p:txBody>
      </p:sp>
      <p:sp>
        <p:nvSpPr>
          <p:cNvPr id="6" name="card"/>
          <p:cNvSpPr/>
          <p:nvPr/>
        </p:nvSpPr>
        <p:spPr>
          <a:xfrm>
            <a:off x="640080" y="1691640"/>
            <a:ext cx="3520440" cy="4434840"/>
          </a:xfrm>
          <a:prstGeom prst="roundRect">
            <a:avLst>
              <a:gd name="adj" fmla="val 3117"/>
            </a:avLst>
          </a:prstGeom>
          <a:solidFill>
            <a:srgbClr val="EAF6EC"/>
          </a:solidFill>
          <a:ln w="9525">
            <a:solidFill>
              <a:srgbClr val="DCE7DF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1828800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L" sz="5400" b="1" noProof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s-CL" sz="5400" noProof="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82880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2000" b="1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Completadas</a:t>
            </a:r>
            <a:endParaRPr lang="es-CL" sz="2000" noProof="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926080"/>
            <a:ext cx="3017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s-CL" sz="1400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y fundamentación</a:t>
            </a:r>
            <a:endParaRPr lang="es-CL" sz="1400" noProof="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s-CL" sz="1400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Requerimientos y arquitectura</a:t>
            </a:r>
            <a:endParaRPr lang="es-CL" sz="1400" noProof="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s-CL" sz="1400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UX/UI y prototipo</a:t>
            </a:r>
            <a:endParaRPr lang="es-CL" sz="1400" noProof="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s-CL" sz="1400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s-CL" sz="1400" noProof="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s-CL" sz="1400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y </a:t>
            </a:r>
            <a:r>
              <a:rPr lang="es-CL" sz="1400" noProof="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</a:t>
            </a:r>
            <a:endParaRPr lang="es-CL" sz="1400" noProof="0" dirty="0"/>
          </a:p>
        </p:txBody>
      </p:sp>
      <p:sp>
        <p:nvSpPr>
          <p:cNvPr id="10" name="card"/>
          <p:cNvSpPr/>
          <p:nvPr/>
        </p:nvSpPr>
        <p:spPr>
          <a:xfrm>
            <a:off x="4334256" y="1691640"/>
            <a:ext cx="3520440" cy="4434840"/>
          </a:xfrm>
          <a:prstGeom prst="roundRect">
            <a:avLst>
              <a:gd name="adj" fmla="val 3117"/>
            </a:avLst>
          </a:prstGeom>
          <a:solidFill>
            <a:srgbClr val="F5FBF6"/>
          </a:solidFill>
          <a:ln w="9525">
            <a:solidFill>
              <a:srgbClr val="DCE7DF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11" name="Text 9"/>
          <p:cNvSpPr txBox="1"/>
          <p:nvPr/>
        </p:nvSpPr>
        <p:spPr>
          <a:xfrm>
            <a:off x="4608576" y="1828800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L" sz="5400" b="1" noProof="0" dirty="0">
                <a:solidFill>
                  <a:srgbClr val="B76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s-CL" sz="5400" noProof="0" dirty="0"/>
          </a:p>
        </p:txBody>
      </p:sp>
      <p:sp>
        <p:nvSpPr>
          <p:cNvPr id="12" name="Text 10"/>
          <p:cNvSpPr txBox="1"/>
          <p:nvPr/>
        </p:nvSpPr>
        <p:spPr>
          <a:xfrm>
            <a:off x="5614416" y="182880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2000" b="1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curso</a:t>
            </a:r>
            <a:endParaRPr lang="es-CL" sz="2000" noProof="0" dirty="0"/>
          </a:p>
        </p:txBody>
      </p:sp>
      <p:sp>
        <p:nvSpPr>
          <p:cNvPr id="13" name="Text 11"/>
          <p:cNvSpPr txBox="1"/>
          <p:nvPr/>
        </p:nvSpPr>
        <p:spPr>
          <a:xfrm>
            <a:off x="4608576" y="2926080"/>
            <a:ext cx="3017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s-CL" sz="1400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web y app móvil</a:t>
            </a:r>
            <a:endParaRPr lang="es-CL" sz="1400" noProof="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s-CL" sz="1400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de inteligencia artificial</a:t>
            </a:r>
            <a:endParaRPr lang="es-CL" sz="1400" noProof="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s-CL" sz="1400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Geolocalización y código de barras</a:t>
            </a:r>
            <a:endParaRPr lang="es-CL" sz="1400" noProof="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s-CL" sz="1400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e inteligencia de negocios</a:t>
            </a:r>
            <a:endParaRPr lang="es-CL" sz="1400" noProof="0" dirty="0"/>
          </a:p>
        </p:txBody>
      </p:sp>
      <p:sp>
        <p:nvSpPr>
          <p:cNvPr id="14" name="card"/>
          <p:cNvSpPr/>
          <p:nvPr/>
        </p:nvSpPr>
        <p:spPr>
          <a:xfrm>
            <a:off x="8028432" y="1691640"/>
            <a:ext cx="3520440" cy="4434840"/>
          </a:xfrm>
          <a:prstGeom prst="roundRect">
            <a:avLst>
              <a:gd name="adj" fmla="val 3117"/>
            </a:avLst>
          </a:prstGeom>
          <a:solidFill>
            <a:srgbClr val="F5FBF6"/>
          </a:solidFill>
          <a:ln w="9525">
            <a:solidFill>
              <a:srgbClr val="DCE7DF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15" name="Text 13"/>
          <p:cNvSpPr txBox="1"/>
          <p:nvPr/>
        </p:nvSpPr>
        <p:spPr>
          <a:xfrm>
            <a:off x="8302752" y="1828800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L" sz="5400" b="1" noProof="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s-CL" sz="5400" noProof="0" dirty="0"/>
          </a:p>
        </p:txBody>
      </p:sp>
      <p:sp>
        <p:nvSpPr>
          <p:cNvPr id="16" name="Text 14"/>
          <p:cNvSpPr txBox="1"/>
          <p:nvPr/>
        </p:nvSpPr>
        <p:spPr>
          <a:xfrm>
            <a:off x="9308592" y="182880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2000" b="1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iniciar</a:t>
            </a:r>
            <a:endParaRPr lang="es-CL" sz="2000" noProof="0" dirty="0"/>
          </a:p>
        </p:txBody>
      </p:sp>
      <p:sp>
        <p:nvSpPr>
          <p:cNvPr id="17" name="Text 15"/>
          <p:cNvSpPr txBox="1"/>
          <p:nvPr/>
        </p:nvSpPr>
        <p:spPr>
          <a:xfrm>
            <a:off x="8302752" y="2926080"/>
            <a:ext cx="3017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s-CL" sz="1400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Suscripción para comercios</a:t>
            </a:r>
            <a:endParaRPr lang="es-CL" sz="1400" noProof="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s-CL" sz="1400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compras y recetas</a:t>
            </a:r>
            <a:endParaRPr lang="es-CL" sz="1400" noProof="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s-CL" sz="1400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y despliegue</a:t>
            </a:r>
            <a:endParaRPr lang="es-CL" sz="1400" noProof="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s-CL" sz="1400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con usuarios y comercios</a:t>
            </a:r>
            <a:endParaRPr lang="es-CL" sz="1400" noProof="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s-CL" sz="1400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y documentación final</a:t>
            </a:r>
            <a:endParaRPr lang="es-CL" sz="1400" noProof="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s-CL" sz="1400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final</a:t>
            </a:r>
            <a:endParaRPr lang="es-CL" sz="1400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Carta Gantt · 18 Semanas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26464"/>
            <a:ext cx="128016" cy="128016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841248" y="133502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(S1-S4)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606040" y="1426464"/>
            <a:ext cx="128016" cy="128016"/>
          </a:xfrm>
          <a:prstGeom prst="ellipse">
            <a:avLst/>
          </a:prstGeom>
          <a:solidFill>
            <a:srgbClr val="4C9A5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 txBox="1"/>
          <p:nvPr/>
        </p:nvSpPr>
        <p:spPr>
          <a:xfrm>
            <a:off x="2807208" y="133502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(S5-S15)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0" y="1426464"/>
            <a:ext cx="128016" cy="128016"/>
          </a:xfrm>
          <a:prstGeom prst="ellipse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 txBox="1"/>
          <p:nvPr/>
        </p:nvSpPr>
        <p:spPr>
          <a:xfrm>
            <a:off x="4773168" y="133502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(S16-S18)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88920" y="1828800"/>
            <a:ext cx="1459992" cy="256032"/>
          </a:xfrm>
          <a:prstGeom prst="rect">
            <a:avLst/>
          </a:prstGeom>
          <a:solidFill>
            <a:srgbClr val="F5FBF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 txBox="1"/>
          <p:nvPr/>
        </p:nvSpPr>
        <p:spPr>
          <a:xfrm>
            <a:off x="2788920" y="1828800"/>
            <a:ext cx="1459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Agosto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2788920" y="2084832"/>
            <a:ext cx="486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650" dirty="0"/>
          </a:p>
        </p:txBody>
      </p:sp>
      <p:sp>
        <p:nvSpPr>
          <p:cNvPr id="13" name="Text 11"/>
          <p:cNvSpPr txBox="1"/>
          <p:nvPr/>
        </p:nvSpPr>
        <p:spPr>
          <a:xfrm>
            <a:off x="3275584" y="2084832"/>
            <a:ext cx="486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650" dirty="0"/>
          </a:p>
        </p:txBody>
      </p:sp>
      <p:sp>
        <p:nvSpPr>
          <p:cNvPr id="14" name="Text 12"/>
          <p:cNvSpPr txBox="1"/>
          <p:nvPr/>
        </p:nvSpPr>
        <p:spPr>
          <a:xfrm>
            <a:off x="3762248" y="2084832"/>
            <a:ext cx="486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4248912" y="1828800"/>
            <a:ext cx="1946656" cy="2560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 txBox="1"/>
          <p:nvPr/>
        </p:nvSpPr>
        <p:spPr>
          <a:xfrm>
            <a:off x="4248912" y="1828800"/>
            <a:ext cx="19466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Septiembre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248912" y="2084832"/>
            <a:ext cx="486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650" dirty="0"/>
          </a:p>
        </p:txBody>
      </p:sp>
      <p:sp>
        <p:nvSpPr>
          <p:cNvPr id="18" name="Text 16"/>
          <p:cNvSpPr txBox="1"/>
          <p:nvPr/>
        </p:nvSpPr>
        <p:spPr>
          <a:xfrm>
            <a:off x="4735576" y="2084832"/>
            <a:ext cx="486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650" dirty="0"/>
          </a:p>
        </p:txBody>
      </p:sp>
      <p:sp>
        <p:nvSpPr>
          <p:cNvPr id="19" name="Text 17"/>
          <p:cNvSpPr txBox="1"/>
          <p:nvPr/>
        </p:nvSpPr>
        <p:spPr>
          <a:xfrm>
            <a:off x="5222240" y="2084832"/>
            <a:ext cx="486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650" dirty="0"/>
          </a:p>
        </p:txBody>
      </p:sp>
      <p:sp>
        <p:nvSpPr>
          <p:cNvPr id="20" name="Text 18"/>
          <p:cNvSpPr txBox="1"/>
          <p:nvPr/>
        </p:nvSpPr>
        <p:spPr>
          <a:xfrm>
            <a:off x="5708904" y="2084832"/>
            <a:ext cx="486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6195568" y="1828800"/>
            <a:ext cx="2433320" cy="256032"/>
          </a:xfrm>
          <a:prstGeom prst="rect">
            <a:avLst/>
          </a:prstGeom>
          <a:solidFill>
            <a:srgbClr val="F5FBF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 txBox="1"/>
          <p:nvPr/>
        </p:nvSpPr>
        <p:spPr>
          <a:xfrm>
            <a:off x="6195568" y="1828800"/>
            <a:ext cx="243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Octubre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6195568" y="2084832"/>
            <a:ext cx="486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</a:t>
            </a:r>
            <a:endParaRPr lang="en-US" sz="650" dirty="0"/>
          </a:p>
        </p:txBody>
      </p:sp>
      <p:sp>
        <p:nvSpPr>
          <p:cNvPr id="24" name="Text 22"/>
          <p:cNvSpPr txBox="1"/>
          <p:nvPr/>
        </p:nvSpPr>
        <p:spPr>
          <a:xfrm>
            <a:off x="6682232" y="2084832"/>
            <a:ext cx="486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S9</a:t>
            </a:r>
            <a:endParaRPr lang="en-US" sz="650" dirty="0"/>
          </a:p>
        </p:txBody>
      </p:sp>
      <p:sp>
        <p:nvSpPr>
          <p:cNvPr id="25" name="Text 23"/>
          <p:cNvSpPr txBox="1"/>
          <p:nvPr/>
        </p:nvSpPr>
        <p:spPr>
          <a:xfrm>
            <a:off x="7168896" y="2084832"/>
            <a:ext cx="486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S10</a:t>
            </a:r>
            <a:endParaRPr lang="en-US" sz="650" dirty="0"/>
          </a:p>
        </p:txBody>
      </p:sp>
      <p:sp>
        <p:nvSpPr>
          <p:cNvPr id="26" name="Text 24"/>
          <p:cNvSpPr txBox="1"/>
          <p:nvPr/>
        </p:nvSpPr>
        <p:spPr>
          <a:xfrm>
            <a:off x="7655560" y="2084832"/>
            <a:ext cx="486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S11</a:t>
            </a:r>
            <a:endParaRPr lang="en-US" sz="650" dirty="0"/>
          </a:p>
        </p:txBody>
      </p:sp>
      <p:sp>
        <p:nvSpPr>
          <p:cNvPr id="27" name="Text 25"/>
          <p:cNvSpPr txBox="1"/>
          <p:nvPr/>
        </p:nvSpPr>
        <p:spPr>
          <a:xfrm>
            <a:off x="8142224" y="2084832"/>
            <a:ext cx="486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S12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8628888" y="1828800"/>
            <a:ext cx="1946656" cy="2560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9" name="Text 27"/>
          <p:cNvSpPr txBox="1"/>
          <p:nvPr/>
        </p:nvSpPr>
        <p:spPr>
          <a:xfrm>
            <a:off x="8628888" y="1828800"/>
            <a:ext cx="19466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Noviembre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8628888" y="2084832"/>
            <a:ext cx="486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S13</a:t>
            </a:r>
            <a:endParaRPr lang="en-US" sz="650" dirty="0"/>
          </a:p>
        </p:txBody>
      </p:sp>
      <p:sp>
        <p:nvSpPr>
          <p:cNvPr id="31" name="Text 29"/>
          <p:cNvSpPr txBox="1"/>
          <p:nvPr/>
        </p:nvSpPr>
        <p:spPr>
          <a:xfrm>
            <a:off x="9115552" y="2084832"/>
            <a:ext cx="486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S14</a:t>
            </a:r>
            <a:endParaRPr lang="en-US" sz="650" dirty="0"/>
          </a:p>
        </p:txBody>
      </p:sp>
      <p:sp>
        <p:nvSpPr>
          <p:cNvPr id="32" name="Text 30"/>
          <p:cNvSpPr txBox="1"/>
          <p:nvPr/>
        </p:nvSpPr>
        <p:spPr>
          <a:xfrm>
            <a:off x="9602216" y="2084832"/>
            <a:ext cx="486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S15</a:t>
            </a:r>
            <a:endParaRPr lang="en-US" sz="650" dirty="0"/>
          </a:p>
        </p:txBody>
      </p:sp>
      <p:sp>
        <p:nvSpPr>
          <p:cNvPr id="33" name="Text 31"/>
          <p:cNvSpPr txBox="1"/>
          <p:nvPr/>
        </p:nvSpPr>
        <p:spPr>
          <a:xfrm>
            <a:off x="10088880" y="2084832"/>
            <a:ext cx="486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S16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10575544" y="1828800"/>
            <a:ext cx="973328" cy="256032"/>
          </a:xfrm>
          <a:prstGeom prst="rect">
            <a:avLst/>
          </a:prstGeom>
          <a:solidFill>
            <a:srgbClr val="F5FBF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5" name="Text 33"/>
          <p:cNvSpPr txBox="1"/>
          <p:nvPr/>
        </p:nvSpPr>
        <p:spPr>
          <a:xfrm>
            <a:off x="10575544" y="1828800"/>
            <a:ext cx="973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Diciembre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10575544" y="2084832"/>
            <a:ext cx="486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S17</a:t>
            </a:r>
            <a:endParaRPr lang="en-US" sz="650" dirty="0"/>
          </a:p>
        </p:txBody>
      </p:sp>
      <p:sp>
        <p:nvSpPr>
          <p:cNvPr id="37" name="Text 35"/>
          <p:cNvSpPr txBox="1"/>
          <p:nvPr/>
        </p:nvSpPr>
        <p:spPr>
          <a:xfrm>
            <a:off x="11062208" y="2084832"/>
            <a:ext cx="486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S18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640080" y="2286000"/>
            <a:ext cx="10908792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9" name="Shape 37"/>
          <p:cNvSpPr/>
          <p:nvPr/>
        </p:nvSpPr>
        <p:spPr>
          <a:xfrm>
            <a:off x="640080" y="2340864"/>
            <a:ext cx="10908792" cy="272491"/>
          </a:xfrm>
          <a:prstGeom prst="rect">
            <a:avLst/>
          </a:prstGeom>
          <a:solidFill>
            <a:srgbClr val="FAFB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0" name="Text 38"/>
          <p:cNvSpPr txBox="1"/>
          <p:nvPr/>
        </p:nvSpPr>
        <p:spPr>
          <a:xfrm>
            <a:off x="713232" y="2340864"/>
            <a:ext cx="2002536" cy="2724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y fundamentación</a:t>
            </a:r>
            <a:endParaRPr lang="en-US" sz="1000" b="1" dirty="0"/>
          </a:p>
        </p:txBody>
      </p:sp>
      <p:sp>
        <p:nvSpPr>
          <p:cNvPr id="41" name="Shape 39"/>
          <p:cNvSpPr/>
          <p:nvPr/>
        </p:nvSpPr>
        <p:spPr>
          <a:xfrm>
            <a:off x="2788920" y="2400812"/>
            <a:ext cx="8759952" cy="152595"/>
          </a:xfrm>
          <a:prstGeom prst="roundRect">
            <a:avLst>
              <a:gd name="adj" fmla="val 17977"/>
            </a:avLst>
          </a:prstGeom>
          <a:solidFill>
            <a:srgbClr val="EEF1E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2" name="Shape 40"/>
          <p:cNvSpPr/>
          <p:nvPr/>
        </p:nvSpPr>
        <p:spPr>
          <a:xfrm>
            <a:off x="2788920" y="2400812"/>
            <a:ext cx="1946656" cy="152595"/>
          </a:xfrm>
          <a:prstGeom prst="roundRect">
            <a:avLst>
              <a:gd name="adj" fmla="val 17977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3" name="Text 41"/>
          <p:cNvSpPr txBox="1"/>
          <p:nvPr/>
        </p:nvSpPr>
        <p:spPr>
          <a:xfrm>
            <a:off x="713232" y="2613355"/>
            <a:ext cx="2002536" cy="2724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Requerimientos y arquitectura</a:t>
            </a:r>
            <a:endParaRPr lang="en-US" sz="1000" b="1" dirty="0"/>
          </a:p>
        </p:txBody>
      </p:sp>
      <p:sp>
        <p:nvSpPr>
          <p:cNvPr id="44" name="Shape 42"/>
          <p:cNvSpPr/>
          <p:nvPr/>
        </p:nvSpPr>
        <p:spPr>
          <a:xfrm>
            <a:off x="2788920" y="2673303"/>
            <a:ext cx="8759952" cy="152595"/>
          </a:xfrm>
          <a:prstGeom prst="roundRect">
            <a:avLst>
              <a:gd name="adj" fmla="val 17977"/>
            </a:avLst>
          </a:prstGeom>
          <a:solidFill>
            <a:srgbClr val="EEF1E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5" name="Shape 43"/>
          <p:cNvSpPr/>
          <p:nvPr/>
        </p:nvSpPr>
        <p:spPr>
          <a:xfrm>
            <a:off x="4735576" y="2673303"/>
            <a:ext cx="973328" cy="152595"/>
          </a:xfrm>
          <a:prstGeom prst="roundRect">
            <a:avLst>
              <a:gd name="adj" fmla="val 17977"/>
            </a:avLst>
          </a:prstGeom>
          <a:solidFill>
            <a:srgbClr val="4C9A5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6" name="Shape 44"/>
          <p:cNvSpPr/>
          <p:nvPr/>
        </p:nvSpPr>
        <p:spPr>
          <a:xfrm>
            <a:off x="640080" y="2885846"/>
            <a:ext cx="10908792" cy="272491"/>
          </a:xfrm>
          <a:prstGeom prst="rect">
            <a:avLst/>
          </a:prstGeom>
          <a:solidFill>
            <a:srgbClr val="FAFB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7" name="Text 45"/>
          <p:cNvSpPr txBox="1"/>
          <p:nvPr/>
        </p:nvSpPr>
        <p:spPr>
          <a:xfrm>
            <a:off x="713232" y="2885846"/>
            <a:ext cx="2002536" cy="2724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UX/UI y prototipo</a:t>
            </a:r>
            <a:endParaRPr lang="en-US" sz="1000" b="1" dirty="0"/>
          </a:p>
        </p:txBody>
      </p:sp>
      <p:sp>
        <p:nvSpPr>
          <p:cNvPr id="48" name="Shape 46"/>
          <p:cNvSpPr/>
          <p:nvPr/>
        </p:nvSpPr>
        <p:spPr>
          <a:xfrm>
            <a:off x="2788920" y="2945794"/>
            <a:ext cx="8759952" cy="152595"/>
          </a:xfrm>
          <a:prstGeom prst="roundRect">
            <a:avLst>
              <a:gd name="adj" fmla="val 17977"/>
            </a:avLst>
          </a:prstGeom>
          <a:solidFill>
            <a:srgbClr val="EEF1E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9" name="Shape 47"/>
          <p:cNvSpPr/>
          <p:nvPr/>
        </p:nvSpPr>
        <p:spPr>
          <a:xfrm>
            <a:off x="4735576" y="2945794"/>
            <a:ext cx="1459992" cy="152595"/>
          </a:xfrm>
          <a:prstGeom prst="roundRect">
            <a:avLst>
              <a:gd name="adj" fmla="val 17977"/>
            </a:avLst>
          </a:prstGeom>
          <a:solidFill>
            <a:srgbClr val="4C9A5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0" name="Text 48"/>
          <p:cNvSpPr txBox="1"/>
          <p:nvPr/>
        </p:nvSpPr>
        <p:spPr>
          <a:xfrm>
            <a:off x="713232" y="3158338"/>
            <a:ext cx="2002536" cy="2724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 de base de datos</a:t>
            </a:r>
            <a:endParaRPr lang="en-US" sz="1000" b="1" dirty="0"/>
          </a:p>
        </p:txBody>
      </p:sp>
      <p:sp>
        <p:nvSpPr>
          <p:cNvPr id="51" name="Shape 49"/>
          <p:cNvSpPr/>
          <p:nvPr/>
        </p:nvSpPr>
        <p:spPr>
          <a:xfrm>
            <a:off x="2788920" y="3218286"/>
            <a:ext cx="8759952" cy="152595"/>
          </a:xfrm>
          <a:prstGeom prst="roundRect">
            <a:avLst>
              <a:gd name="adj" fmla="val 17977"/>
            </a:avLst>
          </a:prstGeom>
          <a:solidFill>
            <a:srgbClr val="EEF1E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2" name="Shape 50"/>
          <p:cNvSpPr/>
          <p:nvPr/>
        </p:nvSpPr>
        <p:spPr>
          <a:xfrm>
            <a:off x="5222240" y="3218286"/>
            <a:ext cx="973328" cy="152595"/>
          </a:xfrm>
          <a:prstGeom prst="roundRect">
            <a:avLst>
              <a:gd name="adj" fmla="val 17977"/>
            </a:avLst>
          </a:prstGeom>
          <a:solidFill>
            <a:srgbClr val="4C9A5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3" name="Shape 51"/>
          <p:cNvSpPr/>
          <p:nvPr/>
        </p:nvSpPr>
        <p:spPr>
          <a:xfrm>
            <a:off x="640080" y="3430829"/>
            <a:ext cx="10908792" cy="272491"/>
          </a:xfrm>
          <a:prstGeom prst="rect">
            <a:avLst/>
          </a:prstGeom>
          <a:solidFill>
            <a:srgbClr val="FAFB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4" name="Text 52"/>
          <p:cNvSpPr txBox="1"/>
          <p:nvPr/>
        </p:nvSpPr>
        <p:spPr>
          <a:xfrm>
            <a:off x="713232" y="3430829"/>
            <a:ext cx="2002536" cy="2724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y APIs</a:t>
            </a:r>
            <a:endParaRPr lang="en-US" sz="1000" b="1" dirty="0"/>
          </a:p>
        </p:txBody>
      </p:sp>
      <p:sp>
        <p:nvSpPr>
          <p:cNvPr id="55" name="Shape 53"/>
          <p:cNvSpPr/>
          <p:nvPr/>
        </p:nvSpPr>
        <p:spPr>
          <a:xfrm>
            <a:off x="2788920" y="3490777"/>
            <a:ext cx="8759952" cy="152595"/>
          </a:xfrm>
          <a:prstGeom prst="roundRect">
            <a:avLst>
              <a:gd name="adj" fmla="val 17977"/>
            </a:avLst>
          </a:prstGeom>
          <a:solidFill>
            <a:srgbClr val="EEF1E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6" name="Shape 54"/>
          <p:cNvSpPr/>
          <p:nvPr/>
        </p:nvSpPr>
        <p:spPr>
          <a:xfrm>
            <a:off x="5708904" y="3490777"/>
            <a:ext cx="1946656" cy="152595"/>
          </a:xfrm>
          <a:prstGeom prst="roundRect">
            <a:avLst>
              <a:gd name="adj" fmla="val 17977"/>
            </a:avLst>
          </a:prstGeom>
          <a:solidFill>
            <a:srgbClr val="4C9A5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7" name="Text 55"/>
          <p:cNvSpPr txBox="1"/>
          <p:nvPr/>
        </p:nvSpPr>
        <p:spPr>
          <a:xfrm>
            <a:off x="713232" y="3703320"/>
            <a:ext cx="2002536" cy="2724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web y app móvil</a:t>
            </a:r>
            <a:endParaRPr lang="en-US" sz="1000" b="1" dirty="0"/>
          </a:p>
        </p:txBody>
      </p:sp>
      <p:sp>
        <p:nvSpPr>
          <p:cNvPr id="58" name="Shape 56"/>
          <p:cNvSpPr/>
          <p:nvPr/>
        </p:nvSpPr>
        <p:spPr>
          <a:xfrm>
            <a:off x="2788920" y="3763268"/>
            <a:ext cx="8759952" cy="152595"/>
          </a:xfrm>
          <a:prstGeom prst="roundRect">
            <a:avLst>
              <a:gd name="adj" fmla="val 17977"/>
            </a:avLst>
          </a:prstGeom>
          <a:solidFill>
            <a:srgbClr val="EEF1E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9" name="Shape 57"/>
          <p:cNvSpPr/>
          <p:nvPr/>
        </p:nvSpPr>
        <p:spPr>
          <a:xfrm>
            <a:off x="5708904" y="3763268"/>
            <a:ext cx="2433320" cy="152595"/>
          </a:xfrm>
          <a:prstGeom prst="roundRect">
            <a:avLst>
              <a:gd name="adj" fmla="val 17977"/>
            </a:avLst>
          </a:prstGeom>
          <a:solidFill>
            <a:srgbClr val="4C9A5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0" name="Shape 58"/>
          <p:cNvSpPr/>
          <p:nvPr/>
        </p:nvSpPr>
        <p:spPr>
          <a:xfrm>
            <a:off x="640080" y="3975811"/>
            <a:ext cx="10908792" cy="272491"/>
          </a:xfrm>
          <a:prstGeom prst="rect">
            <a:avLst/>
          </a:prstGeom>
          <a:solidFill>
            <a:srgbClr val="FAFB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1" name="Text 59"/>
          <p:cNvSpPr txBox="1"/>
          <p:nvPr/>
        </p:nvSpPr>
        <p:spPr>
          <a:xfrm>
            <a:off x="713232" y="3975811"/>
            <a:ext cx="2002536" cy="2724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de IA</a:t>
            </a:r>
            <a:endParaRPr lang="en-US" sz="1000" b="1" dirty="0"/>
          </a:p>
        </p:txBody>
      </p:sp>
      <p:sp>
        <p:nvSpPr>
          <p:cNvPr id="62" name="Shape 60"/>
          <p:cNvSpPr/>
          <p:nvPr/>
        </p:nvSpPr>
        <p:spPr>
          <a:xfrm>
            <a:off x="2788920" y="4035759"/>
            <a:ext cx="8759952" cy="152595"/>
          </a:xfrm>
          <a:prstGeom prst="roundRect">
            <a:avLst>
              <a:gd name="adj" fmla="val 17977"/>
            </a:avLst>
          </a:prstGeom>
          <a:solidFill>
            <a:srgbClr val="EEF1E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3" name="Shape 61"/>
          <p:cNvSpPr/>
          <p:nvPr/>
        </p:nvSpPr>
        <p:spPr>
          <a:xfrm>
            <a:off x="6682232" y="4035759"/>
            <a:ext cx="1946656" cy="152595"/>
          </a:xfrm>
          <a:prstGeom prst="roundRect">
            <a:avLst>
              <a:gd name="adj" fmla="val 17977"/>
            </a:avLst>
          </a:prstGeom>
          <a:solidFill>
            <a:srgbClr val="4C9A5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4" name="Text 62"/>
          <p:cNvSpPr txBox="1"/>
          <p:nvPr/>
        </p:nvSpPr>
        <p:spPr>
          <a:xfrm>
            <a:off x="713232" y="4248302"/>
            <a:ext cx="2002536" cy="2724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Geolocalización y mapas</a:t>
            </a:r>
            <a:endParaRPr lang="en-US" sz="1000" b="1" dirty="0"/>
          </a:p>
        </p:txBody>
      </p:sp>
      <p:sp>
        <p:nvSpPr>
          <p:cNvPr id="65" name="Shape 63"/>
          <p:cNvSpPr/>
          <p:nvPr/>
        </p:nvSpPr>
        <p:spPr>
          <a:xfrm>
            <a:off x="2788920" y="4308250"/>
            <a:ext cx="8759952" cy="152595"/>
          </a:xfrm>
          <a:prstGeom prst="roundRect">
            <a:avLst>
              <a:gd name="adj" fmla="val 17977"/>
            </a:avLst>
          </a:prstGeom>
          <a:solidFill>
            <a:srgbClr val="EEF1E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6" name="Shape 64"/>
          <p:cNvSpPr/>
          <p:nvPr/>
        </p:nvSpPr>
        <p:spPr>
          <a:xfrm>
            <a:off x="7168896" y="4308250"/>
            <a:ext cx="1459992" cy="152595"/>
          </a:xfrm>
          <a:prstGeom prst="roundRect">
            <a:avLst>
              <a:gd name="adj" fmla="val 17977"/>
            </a:avLst>
          </a:prstGeom>
          <a:solidFill>
            <a:srgbClr val="4C9A5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7" name="Shape 65"/>
          <p:cNvSpPr/>
          <p:nvPr/>
        </p:nvSpPr>
        <p:spPr>
          <a:xfrm>
            <a:off x="640080" y="4520794"/>
            <a:ext cx="10908792" cy="272491"/>
          </a:xfrm>
          <a:prstGeom prst="rect">
            <a:avLst/>
          </a:prstGeom>
          <a:solidFill>
            <a:srgbClr val="FAFB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8" name="Text 66"/>
          <p:cNvSpPr txBox="1"/>
          <p:nvPr/>
        </p:nvSpPr>
        <p:spPr>
          <a:xfrm>
            <a:off x="713232" y="4520794"/>
            <a:ext cx="2002536" cy="2724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y BI</a:t>
            </a:r>
            <a:endParaRPr lang="en-US" sz="1000" b="1" dirty="0"/>
          </a:p>
        </p:txBody>
      </p:sp>
      <p:sp>
        <p:nvSpPr>
          <p:cNvPr id="69" name="Shape 67"/>
          <p:cNvSpPr/>
          <p:nvPr/>
        </p:nvSpPr>
        <p:spPr>
          <a:xfrm>
            <a:off x="2788920" y="4580742"/>
            <a:ext cx="8759952" cy="152595"/>
          </a:xfrm>
          <a:prstGeom prst="roundRect">
            <a:avLst>
              <a:gd name="adj" fmla="val 17977"/>
            </a:avLst>
          </a:prstGeom>
          <a:solidFill>
            <a:srgbClr val="EEF1E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0" name="Shape 68"/>
          <p:cNvSpPr/>
          <p:nvPr/>
        </p:nvSpPr>
        <p:spPr>
          <a:xfrm>
            <a:off x="7655560" y="4580742"/>
            <a:ext cx="1946656" cy="152595"/>
          </a:xfrm>
          <a:prstGeom prst="roundRect">
            <a:avLst>
              <a:gd name="adj" fmla="val 17977"/>
            </a:avLst>
          </a:prstGeom>
          <a:solidFill>
            <a:srgbClr val="4C9A5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1" name="Text 69"/>
          <p:cNvSpPr txBox="1"/>
          <p:nvPr/>
        </p:nvSpPr>
        <p:spPr>
          <a:xfrm>
            <a:off x="713232" y="4793285"/>
            <a:ext cx="2002536" cy="2724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Suscripción comercios</a:t>
            </a:r>
            <a:endParaRPr lang="en-US" sz="1000" b="1" dirty="0"/>
          </a:p>
        </p:txBody>
      </p:sp>
      <p:sp>
        <p:nvSpPr>
          <p:cNvPr id="72" name="Shape 70"/>
          <p:cNvSpPr/>
          <p:nvPr/>
        </p:nvSpPr>
        <p:spPr>
          <a:xfrm>
            <a:off x="2788920" y="4853233"/>
            <a:ext cx="8759952" cy="152595"/>
          </a:xfrm>
          <a:prstGeom prst="roundRect">
            <a:avLst>
              <a:gd name="adj" fmla="val 17977"/>
            </a:avLst>
          </a:prstGeom>
          <a:solidFill>
            <a:srgbClr val="EEF1E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3" name="Shape 71"/>
          <p:cNvSpPr/>
          <p:nvPr/>
        </p:nvSpPr>
        <p:spPr>
          <a:xfrm>
            <a:off x="8628888" y="4853233"/>
            <a:ext cx="973328" cy="152595"/>
          </a:xfrm>
          <a:prstGeom prst="roundRect">
            <a:avLst>
              <a:gd name="adj" fmla="val 17977"/>
            </a:avLst>
          </a:prstGeom>
          <a:solidFill>
            <a:srgbClr val="4C9A5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4" name="Shape 72"/>
          <p:cNvSpPr/>
          <p:nvPr/>
        </p:nvSpPr>
        <p:spPr>
          <a:xfrm>
            <a:off x="640080" y="5065776"/>
            <a:ext cx="10908792" cy="272491"/>
          </a:xfrm>
          <a:prstGeom prst="rect">
            <a:avLst/>
          </a:prstGeom>
          <a:solidFill>
            <a:srgbClr val="FAFB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5" name="Text 73"/>
          <p:cNvSpPr txBox="1"/>
          <p:nvPr/>
        </p:nvSpPr>
        <p:spPr>
          <a:xfrm>
            <a:off x="713232" y="5065776"/>
            <a:ext cx="2002536" cy="2724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compras y recetas</a:t>
            </a:r>
            <a:endParaRPr lang="en-US" sz="1000" b="1" dirty="0"/>
          </a:p>
        </p:txBody>
      </p:sp>
      <p:sp>
        <p:nvSpPr>
          <p:cNvPr id="76" name="Shape 74"/>
          <p:cNvSpPr/>
          <p:nvPr/>
        </p:nvSpPr>
        <p:spPr>
          <a:xfrm>
            <a:off x="2788920" y="5125724"/>
            <a:ext cx="8759952" cy="152595"/>
          </a:xfrm>
          <a:prstGeom prst="roundRect">
            <a:avLst>
              <a:gd name="adj" fmla="val 17977"/>
            </a:avLst>
          </a:prstGeom>
          <a:solidFill>
            <a:srgbClr val="EEF1E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7" name="Shape 75"/>
          <p:cNvSpPr/>
          <p:nvPr/>
        </p:nvSpPr>
        <p:spPr>
          <a:xfrm>
            <a:off x="8628888" y="5125724"/>
            <a:ext cx="973328" cy="152595"/>
          </a:xfrm>
          <a:prstGeom prst="roundRect">
            <a:avLst>
              <a:gd name="adj" fmla="val 17977"/>
            </a:avLst>
          </a:prstGeom>
          <a:solidFill>
            <a:srgbClr val="4C9A5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8" name="Text 76"/>
          <p:cNvSpPr txBox="1"/>
          <p:nvPr/>
        </p:nvSpPr>
        <p:spPr>
          <a:xfrm>
            <a:off x="713232" y="5338267"/>
            <a:ext cx="2002536" cy="2724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y despliegue</a:t>
            </a:r>
            <a:endParaRPr lang="en-US" sz="1000" b="1" dirty="0"/>
          </a:p>
        </p:txBody>
      </p:sp>
      <p:sp>
        <p:nvSpPr>
          <p:cNvPr id="79" name="Shape 77"/>
          <p:cNvSpPr/>
          <p:nvPr/>
        </p:nvSpPr>
        <p:spPr>
          <a:xfrm>
            <a:off x="2788920" y="5398215"/>
            <a:ext cx="8759952" cy="152595"/>
          </a:xfrm>
          <a:prstGeom prst="roundRect">
            <a:avLst>
              <a:gd name="adj" fmla="val 17977"/>
            </a:avLst>
          </a:prstGeom>
          <a:solidFill>
            <a:srgbClr val="EEF1E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0" name="Shape 78"/>
          <p:cNvSpPr/>
          <p:nvPr/>
        </p:nvSpPr>
        <p:spPr>
          <a:xfrm>
            <a:off x="9115552" y="5398215"/>
            <a:ext cx="973328" cy="152595"/>
          </a:xfrm>
          <a:prstGeom prst="roundRect">
            <a:avLst>
              <a:gd name="adj" fmla="val 17977"/>
            </a:avLst>
          </a:prstGeom>
          <a:solidFill>
            <a:srgbClr val="4C9A5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1" name="Shape 79"/>
          <p:cNvSpPr/>
          <p:nvPr/>
        </p:nvSpPr>
        <p:spPr>
          <a:xfrm>
            <a:off x="640080" y="5610758"/>
            <a:ext cx="10908792" cy="272491"/>
          </a:xfrm>
          <a:prstGeom prst="rect">
            <a:avLst/>
          </a:prstGeom>
          <a:solidFill>
            <a:srgbClr val="FAFB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2" name="Text 80"/>
          <p:cNvSpPr txBox="1"/>
          <p:nvPr/>
        </p:nvSpPr>
        <p:spPr>
          <a:xfrm>
            <a:off x="713232" y="5610758"/>
            <a:ext cx="2002536" cy="2724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con usuarios</a:t>
            </a:r>
            <a:endParaRPr lang="en-US" sz="1000" b="1" dirty="0"/>
          </a:p>
        </p:txBody>
      </p:sp>
      <p:sp>
        <p:nvSpPr>
          <p:cNvPr id="83" name="Shape 81"/>
          <p:cNvSpPr/>
          <p:nvPr/>
        </p:nvSpPr>
        <p:spPr>
          <a:xfrm>
            <a:off x="2788920" y="5670706"/>
            <a:ext cx="8759952" cy="152595"/>
          </a:xfrm>
          <a:prstGeom prst="roundRect">
            <a:avLst>
              <a:gd name="adj" fmla="val 17977"/>
            </a:avLst>
          </a:prstGeom>
          <a:solidFill>
            <a:srgbClr val="EEF1E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4" name="Shape 82"/>
          <p:cNvSpPr/>
          <p:nvPr/>
        </p:nvSpPr>
        <p:spPr>
          <a:xfrm>
            <a:off x="10088880" y="5670706"/>
            <a:ext cx="973328" cy="152595"/>
          </a:xfrm>
          <a:prstGeom prst="roundRect">
            <a:avLst>
              <a:gd name="adj" fmla="val 17977"/>
            </a:avLst>
          </a:prstGeom>
          <a:solidFill>
            <a:srgbClr val="1B5E2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5" name="Text 83"/>
          <p:cNvSpPr txBox="1"/>
          <p:nvPr/>
        </p:nvSpPr>
        <p:spPr>
          <a:xfrm>
            <a:off x="713232" y="5883250"/>
            <a:ext cx="2002536" cy="2724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y documentación</a:t>
            </a:r>
            <a:endParaRPr lang="en-US" sz="1000" b="1" dirty="0"/>
          </a:p>
        </p:txBody>
      </p:sp>
      <p:sp>
        <p:nvSpPr>
          <p:cNvPr id="86" name="Shape 84"/>
          <p:cNvSpPr/>
          <p:nvPr/>
        </p:nvSpPr>
        <p:spPr>
          <a:xfrm>
            <a:off x="2788920" y="5943198"/>
            <a:ext cx="8759952" cy="152595"/>
          </a:xfrm>
          <a:prstGeom prst="roundRect">
            <a:avLst>
              <a:gd name="adj" fmla="val 17977"/>
            </a:avLst>
          </a:prstGeom>
          <a:solidFill>
            <a:srgbClr val="EEF1E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7" name="Shape 85"/>
          <p:cNvSpPr/>
          <p:nvPr/>
        </p:nvSpPr>
        <p:spPr>
          <a:xfrm>
            <a:off x="10575544" y="5943198"/>
            <a:ext cx="486664" cy="152595"/>
          </a:xfrm>
          <a:prstGeom prst="roundRect">
            <a:avLst>
              <a:gd name="adj" fmla="val 17977"/>
            </a:avLst>
          </a:prstGeom>
          <a:solidFill>
            <a:srgbClr val="1B5E2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8" name="Shape 86"/>
          <p:cNvSpPr/>
          <p:nvPr/>
        </p:nvSpPr>
        <p:spPr>
          <a:xfrm>
            <a:off x="640080" y="6155741"/>
            <a:ext cx="10908792" cy="272491"/>
          </a:xfrm>
          <a:prstGeom prst="rect">
            <a:avLst/>
          </a:prstGeom>
          <a:solidFill>
            <a:srgbClr val="FAFB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9" name="Text 87"/>
          <p:cNvSpPr txBox="1"/>
          <p:nvPr/>
        </p:nvSpPr>
        <p:spPr>
          <a:xfrm>
            <a:off x="713232" y="6155741"/>
            <a:ext cx="2002536" cy="2724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final</a:t>
            </a:r>
            <a:endParaRPr lang="en-US" sz="1000" b="1" dirty="0"/>
          </a:p>
        </p:txBody>
      </p:sp>
      <p:sp>
        <p:nvSpPr>
          <p:cNvPr id="90" name="Shape 88"/>
          <p:cNvSpPr/>
          <p:nvPr/>
        </p:nvSpPr>
        <p:spPr>
          <a:xfrm>
            <a:off x="2788920" y="6215689"/>
            <a:ext cx="8759952" cy="152595"/>
          </a:xfrm>
          <a:prstGeom prst="roundRect">
            <a:avLst>
              <a:gd name="adj" fmla="val 17977"/>
            </a:avLst>
          </a:prstGeom>
          <a:solidFill>
            <a:srgbClr val="EEF1E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1" name="Shape 89"/>
          <p:cNvSpPr/>
          <p:nvPr/>
        </p:nvSpPr>
        <p:spPr>
          <a:xfrm>
            <a:off x="11062208" y="6215689"/>
            <a:ext cx="486664" cy="152595"/>
          </a:xfrm>
          <a:prstGeom prst="roundRect">
            <a:avLst>
              <a:gd name="adj" fmla="val 17977"/>
            </a:avLst>
          </a:prstGeom>
          <a:solidFill>
            <a:srgbClr val="1B5E2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2" name="Text 9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Paradero Vegano · Definición de Proyecto APT</a:t>
            </a:r>
            <a:endParaRPr lang="en-US" sz="900" dirty="0"/>
          </a:p>
        </p:txBody>
      </p:sp>
      <p:sp>
        <p:nvSpPr>
          <p:cNvPr id="93" name="Text 91"/>
          <p:cNvSpPr txBox="1"/>
          <p:nvPr/>
        </p:nvSpPr>
        <p:spPr>
          <a:xfrm>
            <a:off x="10972800" y="6528816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486400" cy="54864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rgbClr val="66BB6A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Shape 1"/>
          <p:cNvSpPr/>
          <p:nvPr/>
        </p:nvSpPr>
        <p:spPr>
          <a:xfrm>
            <a:off x="-2743200" y="5120640"/>
            <a:ext cx="4114800" cy="41148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accent6">
                <a:lumMod val="40000"/>
                <a:lumOff val="60000"/>
              </a:schemeClr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4" name="Shape 2"/>
          <p:cNvSpPr/>
          <p:nvPr/>
        </p:nvSpPr>
        <p:spPr>
          <a:xfrm>
            <a:off x="822960" y="82296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pic>
        <p:nvPicPr>
          <p:cNvPr id="5" name="Image 0" descr="icons/LuMonitorPlay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0058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32541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L" sz="1600" b="1" kern="0" spc="300" noProof="0" dirty="0">
                <a:solidFill>
                  <a:srgbClr val="DCE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DEL PROYECTO</a:t>
            </a:r>
            <a:endParaRPr lang="es-CL" sz="1600" noProof="0" dirty="0"/>
          </a:p>
        </p:txBody>
      </p:sp>
      <p:sp>
        <p:nvSpPr>
          <p:cNvPr id="7" name="Text 4"/>
          <p:cNvSpPr txBox="1"/>
          <p:nvPr/>
        </p:nvSpPr>
        <p:spPr>
          <a:xfrm>
            <a:off x="749388" y="2861441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L" sz="5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 de la plataforma</a:t>
            </a:r>
            <a:endParaRPr lang="es-CL" sz="5400" noProof="0" dirty="0"/>
          </a:p>
        </p:txBody>
      </p:sp>
      <p:sp>
        <p:nvSpPr>
          <p:cNvPr id="9" name="Text 6"/>
          <p:cNvSpPr txBox="1"/>
          <p:nvPr/>
        </p:nvSpPr>
        <p:spPr>
          <a:xfrm>
            <a:off x="749388" y="402336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L" sz="1600" noProof="0" dirty="0">
                <a:solidFill>
                  <a:srgbClr val="DCE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Explorar lugares  ·  Lista y mapa  ·  Verificador  ·  Favoritos y lista de compras  ·  Recetario  ·  Mi comercio</a:t>
            </a:r>
            <a:endParaRPr lang="es-CL" sz="1600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400" b="1" kern="0" spc="300" noProof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AVANCES FUTUROS</a:t>
            </a:r>
            <a:endParaRPr lang="es-CL" sz="1400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L" sz="4000" b="1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s-CL" sz="4000" noProof="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000" noProof="0" dirty="0">
                <a:solidFill>
                  <a:srgbClr val="8A9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Paradero Vegano · Avance del proyecto</a:t>
            </a:r>
            <a:endParaRPr lang="es-CL" sz="1000" noProof="0" dirty="0"/>
          </a:p>
        </p:txBody>
      </p:sp>
      <p:sp>
        <p:nvSpPr>
          <p:cNvPr id="5" name="Text 3"/>
          <p:cNvSpPr txBox="1"/>
          <p:nvPr/>
        </p:nvSpPr>
        <p:spPr>
          <a:xfrm>
            <a:off x="10607040" y="6355080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L" sz="1000" noProof="0" dirty="0">
                <a:solidFill>
                  <a:srgbClr val="8A9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s-CL" sz="1000" noProof="0" dirty="0"/>
          </a:p>
        </p:txBody>
      </p:sp>
      <p:sp>
        <p:nvSpPr>
          <p:cNvPr id="6" name="card"/>
          <p:cNvSpPr/>
          <p:nvPr/>
        </p:nvSpPr>
        <p:spPr>
          <a:xfrm>
            <a:off x="640080" y="1691640"/>
            <a:ext cx="2606040" cy="4297680"/>
          </a:xfrm>
          <a:prstGeom prst="roundRect">
            <a:avLst>
              <a:gd name="adj" fmla="val 4211"/>
            </a:avLst>
          </a:prstGeom>
          <a:solidFill>
            <a:srgbClr val="F5FBF6"/>
          </a:solidFill>
          <a:ln w="9525">
            <a:solidFill>
              <a:srgbClr val="DCE7DF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7" name="Shape 5"/>
          <p:cNvSpPr/>
          <p:nvPr/>
        </p:nvSpPr>
        <p:spPr>
          <a:xfrm>
            <a:off x="914400" y="1965960"/>
            <a:ext cx="566928" cy="56692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pic>
        <p:nvPicPr>
          <p:cNvPr id="8" name="Image 0" descr="icons/LuWorkflow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463" y="2102023"/>
            <a:ext cx="294803" cy="294803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14400" y="27889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L" sz="1800" b="1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</a:t>
            </a:r>
            <a:endParaRPr lang="es-CL" sz="1800" noProof="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34747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L" sz="1200" b="1" noProof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S12 a S14 · hasta el 13 nov</a:t>
            </a:r>
            <a:endParaRPr lang="es-CL" sz="1200" noProof="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4114800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L" sz="1400" noProof="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 la interfaz con el backend, la IA, la geolocalización, las notificaciones y el panel de negocios.</a:t>
            </a:r>
            <a:endParaRPr lang="es-CL" sz="1400" noProof="0" dirty="0"/>
          </a:p>
        </p:txBody>
      </p:sp>
      <p:sp>
        <p:nvSpPr>
          <p:cNvPr id="12" name="Text 9"/>
          <p:cNvSpPr txBox="1"/>
          <p:nvPr/>
        </p:nvSpPr>
        <p:spPr>
          <a:xfrm>
            <a:off x="3227832" y="301752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2600" b="1" noProof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s-CL" sz="2600" noProof="0" dirty="0"/>
          </a:p>
        </p:txBody>
      </p:sp>
      <p:sp>
        <p:nvSpPr>
          <p:cNvPr id="13" name="card"/>
          <p:cNvSpPr/>
          <p:nvPr/>
        </p:nvSpPr>
        <p:spPr>
          <a:xfrm>
            <a:off x="3419856" y="1691640"/>
            <a:ext cx="2606040" cy="4297680"/>
          </a:xfrm>
          <a:prstGeom prst="roundRect">
            <a:avLst>
              <a:gd name="adj" fmla="val 4211"/>
            </a:avLst>
          </a:prstGeom>
          <a:solidFill>
            <a:srgbClr val="F5FBF6"/>
          </a:solidFill>
          <a:ln w="9525">
            <a:solidFill>
              <a:srgbClr val="DCE7DF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14" name="Shape 11"/>
          <p:cNvSpPr/>
          <p:nvPr/>
        </p:nvSpPr>
        <p:spPr>
          <a:xfrm>
            <a:off x="3694176" y="1965960"/>
            <a:ext cx="566928" cy="56692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pic>
        <p:nvPicPr>
          <p:cNvPr id="15" name="Image 1" descr="icons/LuFlaskConical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0239" y="2102023"/>
            <a:ext cx="294803" cy="294803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3694176" y="27889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L" sz="1800" b="1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y despliegue</a:t>
            </a:r>
            <a:endParaRPr lang="es-CL" sz="1800" noProof="0" dirty="0"/>
          </a:p>
        </p:txBody>
      </p:sp>
      <p:sp>
        <p:nvSpPr>
          <p:cNvPr id="17" name="Text 13"/>
          <p:cNvSpPr txBox="1"/>
          <p:nvPr/>
        </p:nvSpPr>
        <p:spPr>
          <a:xfrm>
            <a:off x="3694176" y="34747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L" sz="1200" b="1" noProof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S14 y S15 · hasta el 20 nov</a:t>
            </a:r>
            <a:endParaRPr lang="es-CL" sz="1200" noProof="0" dirty="0"/>
          </a:p>
        </p:txBody>
      </p:sp>
      <p:sp>
        <p:nvSpPr>
          <p:cNvPr id="18" name="Text 14"/>
          <p:cNvSpPr txBox="1"/>
          <p:nvPr/>
        </p:nvSpPr>
        <p:spPr>
          <a:xfrm>
            <a:off x="3694176" y="4114800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L" sz="1400" noProof="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funcionales e integrales y puesta en producción de la plataforma.</a:t>
            </a:r>
            <a:endParaRPr lang="es-CL" sz="1400" noProof="0" dirty="0"/>
          </a:p>
        </p:txBody>
      </p:sp>
      <p:sp>
        <p:nvSpPr>
          <p:cNvPr id="19" name="Text 15"/>
          <p:cNvSpPr txBox="1"/>
          <p:nvPr/>
        </p:nvSpPr>
        <p:spPr>
          <a:xfrm>
            <a:off x="6007608" y="301752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2600" b="1" noProof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s-CL" sz="2600" noProof="0" dirty="0"/>
          </a:p>
        </p:txBody>
      </p:sp>
      <p:sp>
        <p:nvSpPr>
          <p:cNvPr id="20" name="card"/>
          <p:cNvSpPr/>
          <p:nvPr/>
        </p:nvSpPr>
        <p:spPr>
          <a:xfrm>
            <a:off x="6199632" y="1691640"/>
            <a:ext cx="2606040" cy="4297680"/>
          </a:xfrm>
          <a:prstGeom prst="roundRect">
            <a:avLst>
              <a:gd name="adj" fmla="val 4211"/>
            </a:avLst>
          </a:prstGeom>
          <a:solidFill>
            <a:srgbClr val="F5FBF6"/>
          </a:solidFill>
          <a:ln w="9525">
            <a:solidFill>
              <a:srgbClr val="DCE7DF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21" name="Shape 17"/>
          <p:cNvSpPr/>
          <p:nvPr/>
        </p:nvSpPr>
        <p:spPr>
          <a:xfrm>
            <a:off x="6473952" y="1965960"/>
            <a:ext cx="566928" cy="56692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pic>
        <p:nvPicPr>
          <p:cNvPr id="22" name="Image 2" descr="icons/LuMapPin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0015" y="2102023"/>
            <a:ext cx="294803" cy="294803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6473952" y="27889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L" sz="1800" b="1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en zona piloto</a:t>
            </a:r>
            <a:endParaRPr lang="es-CL" sz="1800" noProof="0" dirty="0"/>
          </a:p>
        </p:txBody>
      </p:sp>
      <p:sp>
        <p:nvSpPr>
          <p:cNvPr id="24" name="Text 19"/>
          <p:cNvSpPr txBox="1"/>
          <p:nvPr/>
        </p:nvSpPr>
        <p:spPr>
          <a:xfrm>
            <a:off x="6473952" y="34747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L" sz="1200" b="1" noProof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S16 y S17 · hasta el 4 dic</a:t>
            </a:r>
            <a:endParaRPr lang="es-CL" sz="1200" noProof="0" dirty="0"/>
          </a:p>
        </p:txBody>
      </p:sp>
      <p:sp>
        <p:nvSpPr>
          <p:cNvPr id="25" name="Text 20"/>
          <p:cNvSpPr txBox="1"/>
          <p:nvPr/>
        </p:nvSpPr>
        <p:spPr>
          <a:xfrm>
            <a:off x="6473952" y="4114800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L" sz="1400" noProof="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con usuarios y pequeños comercios reales de Santiago, con recolección de retroalimentación.</a:t>
            </a:r>
            <a:endParaRPr lang="es-CL" sz="1400" noProof="0" dirty="0"/>
          </a:p>
        </p:txBody>
      </p:sp>
      <p:sp>
        <p:nvSpPr>
          <p:cNvPr id="26" name="Text 21"/>
          <p:cNvSpPr txBox="1"/>
          <p:nvPr/>
        </p:nvSpPr>
        <p:spPr>
          <a:xfrm>
            <a:off x="8787384" y="301752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2600" b="1" noProof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s-CL" sz="2600" noProof="0" dirty="0"/>
          </a:p>
        </p:txBody>
      </p:sp>
      <p:sp>
        <p:nvSpPr>
          <p:cNvPr id="27" name="card"/>
          <p:cNvSpPr/>
          <p:nvPr/>
        </p:nvSpPr>
        <p:spPr>
          <a:xfrm>
            <a:off x="8979408" y="1691640"/>
            <a:ext cx="2606040" cy="4297680"/>
          </a:xfrm>
          <a:prstGeom prst="roundRect">
            <a:avLst>
              <a:gd name="adj" fmla="val 4211"/>
            </a:avLst>
          </a:prstGeom>
          <a:solidFill>
            <a:srgbClr val="F5FBF6"/>
          </a:solidFill>
          <a:ln w="9525">
            <a:solidFill>
              <a:srgbClr val="DCE7DF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28" name="Shape 23"/>
          <p:cNvSpPr/>
          <p:nvPr/>
        </p:nvSpPr>
        <p:spPr>
          <a:xfrm>
            <a:off x="9253728" y="1965960"/>
            <a:ext cx="566928" cy="56692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pic>
        <p:nvPicPr>
          <p:cNvPr id="29" name="Image 3" descr="icons/LuTarget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89791" y="2102023"/>
            <a:ext cx="294803" cy="294803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9253728" y="27889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L" sz="1800" b="1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s-CL" sz="1800" noProof="0" dirty="0"/>
          </a:p>
        </p:txBody>
      </p:sp>
      <p:sp>
        <p:nvSpPr>
          <p:cNvPr id="31" name="Text 25"/>
          <p:cNvSpPr txBox="1"/>
          <p:nvPr/>
        </p:nvSpPr>
        <p:spPr>
          <a:xfrm>
            <a:off x="9253728" y="34747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L" sz="1200" b="1" noProof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S17 y S18 · hasta el 11 dic</a:t>
            </a:r>
            <a:endParaRPr lang="es-CL" sz="1200" noProof="0" dirty="0"/>
          </a:p>
        </p:txBody>
      </p:sp>
      <p:sp>
        <p:nvSpPr>
          <p:cNvPr id="32" name="Text 26"/>
          <p:cNvSpPr txBox="1"/>
          <p:nvPr/>
        </p:nvSpPr>
        <p:spPr>
          <a:xfrm>
            <a:off x="9253728" y="4114800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L" sz="1400" noProof="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resultados, ajustes finales, documentación y presentación final.</a:t>
            </a:r>
            <a:endParaRPr lang="es-CL" sz="1400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486400" cy="54864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rgbClr val="66BB6A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Shape 1"/>
          <p:cNvSpPr/>
          <p:nvPr/>
        </p:nvSpPr>
        <p:spPr>
          <a:xfrm>
            <a:off x="-2743200" y="5120640"/>
            <a:ext cx="4114800" cy="41148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rgbClr val="66BB6A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4" name="Shape 2"/>
          <p:cNvSpPr/>
          <p:nvPr/>
        </p:nvSpPr>
        <p:spPr>
          <a:xfrm>
            <a:off x="822960" y="82296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pic>
        <p:nvPicPr>
          <p:cNvPr id="5" name="Image 0" descr="icons/LuLeaf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0058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011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L" sz="6000" b="1" kern="0" spc="300" noProof="0" dirty="0">
                <a:solidFill>
                  <a:srgbClr val="DCE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</a:t>
            </a:r>
            <a:endParaRPr lang="es-CL" sz="1200" noProof="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24612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L" sz="2000" noProof="0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ser el punto de encuentro entre consumidores y comercios veganos en Chile, combinando evidencia colaborativa e inteligencia artificial para dar confianza a una comunidad que hoy no cuenta con herramientas suficientes.</a:t>
            </a:r>
            <a:endParaRPr lang="es-CL" sz="2000" noProof="0" dirty="0"/>
          </a:p>
        </p:txBody>
      </p:sp>
      <p:sp>
        <p:nvSpPr>
          <p:cNvPr id="10" name="Text 7"/>
          <p:cNvSpPr txBox="1"/>
          <p:nvPr/>
        </p:nvSpPr>
        <p:spPr>
          <a:xfrm>
            <a:off x="4403834" y="4919891"/>
            <a:ext cx="3384331" cy="713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L" sz="4800" noProof="0" dirty="0">
                <a:solidFill>
                  <a:srgbClr val="DCE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¿Preguntas?</a:t>
            </a:r>
            <a:endParaRPr lang="es-CL" sz="4800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1492</Words>
  <Application>Microsoft Office PowerPoint</Application>
  <PresentationFormat>Panorámica</PresentationFormat>
  <Paragraphs>168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Paradero Vegano – Avance del proyecto</dc:title>
  <dc:subject>PptxGenJS Presentation</dc:subject>
  <dc:creator>Muriel Labra y Manuel Bastidas</dc:creator>
  <cp:lastModifiedBy>muriel labra</cp:lastModifiedBy>
  <cp:revision>2</cp:revision>
  <dcterms:created xsi:type="dcterms:W3CDTF">2026-10-29T22:31:20Z</dcterms:created>
  <dcterms:modified xsi:type="dcterms:W3CDTF">2026-10-29T22:40:47Z</dcterms:modified>
</cp:coreProperties>
</file>